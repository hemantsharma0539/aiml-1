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3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</p:sldIdLst>
  <p:sldSz cx="18288000" cy="10287000"/>
  <p:notesSz cx="6858000" cy="9144000"/>
  <p:embeddedFontLst>
    <p:embeddedFont>
      <p:font typeface="Trebuchet MS Bold" charset="1" panose="020B0703020202020204"/>
      <p:regular r:id="rId29"/>
    </p:embeddedFont>
    <p:embeddedFont>
      <p:font typeface="Century Gothic Paneuropean Bold" charset="1" panose="020B0702020202020204"/>
      <p:regular r:id="rId30"/>
    </p:embeddedFont>
    <p:embeddedFont>
      <p:font typeface="Century Gothic Paneuropean Bold Italics" charset="1" panose="020B0702020202090204"/>
      <p:regular r:id="rId31"/>
    </p:embeddedFont>
    <p:embeddedFont>
      <p:font typeface="Calibri (MS) Bold" charset="1" panose="020F0702030404030204"/>
      <p:regular r:id="rId32"/>
    </p:embeddedFont>
    <p:embeddedFont>
      <p:font typeface="Calibri (MS)" charset="1" panose="020F0502020204030204"/>
      <p:regular r:id="rId36"/>
    </p:embeddedFont>
    <p:embeddedFont>
      <p:font typeface="Calibri (MS) Italics" charset="1" panose="020F05020202040A0204"/>
      <p:regular r:id="rId37"/>
    </p:embeddedFont>
    <p:embeddedFont>
      <p:font typeface="Georgia Bold Italics" charset="1" panose="02040802050405090203"/>
      <p:regular r:id="rId38"/>
    </p:embeddedFont>
    <p:embeddedFont>
      <p:font typeface="Georgia Bold" charset="1" panose="02040802050405020203"/>
      <p:regular r:id="rId39"/>
    </p:embeddedFont>
    <p:embeddedFont>
      <p:font typeface="Georgia Pro Bold" charset="1" panose="02040802050405020203"/>
      <p:regular r:id="rId41"/>
    </p:embeddedFont>
    <p:embeddedFont>
      <p:font typeface="Avallon Alt" charset="1" panose="00000000000000000000"/>
      <p:regular r:id="rId6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notesMasters/notesMaster1.xml" Type="http://schemas.openxmlformats.org/officeDocument/2006/relationships/notesMaster"/><Relationship Id="rId34" Target="theme/theme2.xml" Type="http://schemas.openxmlformats.org/officeDocument/2006/relationships/theme"/><Relationship Id="rId35" Target="notesSlides/notesSlide1.xml" Type="http://schemas.openxmlformats.org/officeDocument/2006/relationships/notesSlide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40" Target="notesSlides/notesSlide2.xml" Type="http://schemas.openxmlformats.org/officeDocument/2006/relationships/notesSlide"/><Relationship Id="rId41" Target="fonts/font41.fntdata" Type="http://schemas.openxmlformats.org/officeDocument/2006/relationships/font"/><Relationship Id="rId42" Target="notesSlides/notesSlide3.xml" Type="http://schemas.openxmlformats.org/officeDocument/2006/relationships/notesSlide"/><Relationship Id="rId43" Target="notesSlides/notesSlide4.xml" Type="http://schemas.openxmlformats.org/officeDocument/2006/relationships/notesSlide"/><Relationship Id="rId44" Target="notesSlides/notesSlide5.xml" Type="http://schemas.openxmlformats.org/officeDocument/2006/relationships/notesSlide"/><Relationship Id="rId45" Target="notesSlides/notesSlide6.xml" Type="http://schemas.openxmlformats.org/officeDocument/2006/relationships/notesSlide"/><Relationship Id="rId46" Target="notesSlides/notesSlide7.xml" Type="http://schemas.openxmlformats.org/officeDocument/2006/relationships/notesSlide"/><Relationship Id="rId47" Target="notesSlides/notesSlide8.xml" Type="http://schemas.openxmlformats.org/officeDocument/2006/relationships/notesSlide"/><Relationship Id="rId48" Target="notesSlides/notesSlide9.xml" Type="http://schemas.openxmlformats.org/officeDocument/2006/relationships/notesSlide"/><Relationship Id="rId49" Target="notesSlides/notesSlide10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1.xml" Type="http://schemas.openxmlformats.org/officeDocument/2006/relationships/notesSlide"/><Relationship Id="rId51" Target="notesSlides/notesSlide12.xml" Type="http://schemas.openxmlformats.org/officeDocument/2006/relationships/notesSlide"/><Relationship Id="rId52" Target="notesSlides/notesSlide13.xml" Type="http://schemas.openxmlformats.org/officeDocument/2006/relationships/notesSlide"/><Relationship Id="rId53" Target="notesSlides/notesSlide14.xml" Type="http://schemas.openxmlformats.org/officeDocument/2006/relationships/notesSlide"/><Relationship Id="rId54" Target="notesSlides/notesSlide15.xml" Type="http://schemas.openxmlformats.org/officeDocument/2006/relationships/notesSlide"/><Relationship Id="rId55" Target="notesSlides/notesSlide16.xml" Type="http://schemas.openxmlformats.org/officeDocument/2006/relationships/notesSlide"/><Relationship Id="rId56" Target="notesSlides/notesSlide17.xml" Type="http://schemas.openxmlformats.org/officeDocument/2006/relationships/notesSlide"/><Relationship Id="rId57" Target="notesSlides/notesSlide18.xml" Type="http://schemas.openxmlformats.org/officeDocument/2006/relationships/notesSlide"/><Relationship Id="rId58" Target="notesSlides/notesSlide19.xml" Type="http://schemas.openxmlformats.org/officeDocument/2006/relationships/notesSlide"/><Relationship Id="rId59" Target="notesSlides/notesSlide20.xml" Type="http://schemas.openxmlformats.org/officeDocument/2006/relationships/notesSlide"/><Relationship Id="rId6" Target="slides/slide1.xml" Type="http://schemas.openxmlformats.org/officeDocument/2006/relationships/slide"/><Relationship Id="rId60" Target="fonts/font60.fntdata" Type="http://schemas.openxmlformats.org/officeDocument/2006/relationships/font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jpe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.jpeg" Type="http://schemas.openxmlformats.org/officeDocument/2006/relationships/image"/><Relationship Id="rId4" Target="../media/image4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2.jpeg" Type="http://schemas.openxmlformats.org/officeDocument/2006/relationships/image"/><Relationship Id="rId4" Target="../media/image5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2.jpeg" Type="http://schemas.openxmlformats.org/officeDocument/2006/relationships/image"/><Relationship Id="rId4" Target="../media/image6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2.jpeg" Type="http://schemas.openxmlformats.org/officeDocument/2006/relationships/image"/><Relationship Id="rId4" Target="../media/image7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2.jpe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2.jpe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2.jpe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2.jpe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39596" y="1103728"/>
            <a:ext cx="15933420" cy="5907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0"/>
              </a:lnSpc>
            </a:pPr>
            <a:r>
              <a:rPr lang="en-US" sz="3000" b="true">
                <a:solidFill>
                  <a:srgbClr val="C00000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EAI-421: Application of AI &amp; ML in Agriculture (0+10)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858125" y="6376168"/>
            <a:ext cx="9515856" cy="3248273"/>
            <a:chOff x="0" y="0"/>
            <a:chExt cx="12687808" cy="433103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2700" y="12700"/>
              <a:ext cx="12662408" cy="4305681"/>
            </a:xfrm>
            <a:custGeom>
              <a:avLst/>
              <a:gdLst/>
              <a:ahLst/>
              <a:cxnLst/>
              <a:rect r="r" b="b" t="t" l="l"/>
              <a:pathLst>
                <a:path h="4305681" w="12662408">
                  <a:moveTo>
                    <a:pt x="0" y="0"/>
                  </a:moveTo>
                  <a:lnTo>
                    <a:pt x="12662408" y="0"/>
                  </a:lnTo>
                  <a:lnTo>
                    <a:pt x="12662408" y="4305681"/>
                  </a:lnTo>
                  <a:lnTo>
                    <a:pt x="0" y="430568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687808" cy="4331081"/>
            </a:xfrm>
            <a:custGeom>
              <a:avLst/>
              <a:gdLst/>
              <a:ahLst/>
              <a:cxnLst/>
              <a:rect r="r" b="b" t="t" l="l"/>
              <a:pathLst>
                <a:path h="4331081" w="12687808">
                  <a:moveTo>
                    <a:pt x="12700" y="0"/>
                  </a:moveTo>
                  <a:lnTo>
                    <a:pt x="12675108" y="0"/>
                  </a:lnTo>
                  <a:cubicBezTo>
                    <a:pt x="12682093" y="0"/>
                    <a:pt x="12687808" y="5715"/>
                    <a:pt x="12687808" y="12700"/>
                  </a:cubicBezTo>
                  <a:lnTo>
                    <a:pt x="12687808" y="4318381"/>
                  </a:lnTo>
                  <a:cubicBezTo>
                    <a:pt x="12687808" y="4325366"/>
                    <a:pt x="12682093" y="4331081"/>
                    <a:pt x="12675108" y="4331081"/>
                  </a:cubicBezTo>
                  <a:lnTo>
                    <a:pt x="12700" y="4331081"/>
                  </a:lnTo>
                  <a:cubicBezTo>
                    <a:pt x="5715" y="4331081"/>
                    <a:pt x="0" y="4325366"/>
                    <a:pt x="0" y="4318381"/>
                  </a:cubicBezTo>
                  <a:lnTo>
                    <a:pt x="0" y="12700"/>
                  </a:lnTo>
                  <a:cubicBezTo>
                    <a:pt x="0" y="5715"/>
                    <a:pt x="5715" y="0"/>
                    <a:pt x="12700" y="0"/>
                  </a:cubicBezTo>
                  <a:moveTo>
                    <a:pt x="12700" y="25400"/>
                  </a:moveTo>
                  <a:lnTo>
                    <a:pt x="12700" y="12700"/>
                  </a:lnTo>
                  <a:lnTo>
                    <a:pt x="25400" y="12700"/>
                  </a:lnTo>
                  <a:lnTo>
                    <a:pt x="25400" y="4318381"/>
                  </a:lnTo>
                  <a:lnTo>
                    <a:pt x="12700" y="4318381"/>
                  </a:lnTo>
                  <a:lnTo>
                    <a:pt x="12700" y="4305681"/>
                  </a:lnTo>
                  <a:lnTo>
                    <a:pt x="12675108" y="4305681"/>
                  </a:lnTo>
                  <a:lnTo>
                    <a:pt x="12675108" y="4318381"/>
                  </a:lnTo>
                  <a:lnTo>
                    <a:pt x="12662408" y="4318381"/>
                  </a:lnTo>
                  <a:lnTo>
                    <a:pt x="12662408" y="12700"/>
                  </a:lnTo>
                  <a:lnTo>
                    <a:pt x="12675108" y="12700"/>
                  </a:lnTo>
                  <a:lnTo>
                    <a:pt x="12675108" y="25400"/>
                  </a:lnTo>
                  <a:lnTo>
                    <a:pt x="12700" y="25400"/>
                  </a:lnTo>
                  <a:close/>
                </a:path>
              </a:pathLst>
            </a:custGeom>
            <a:solidFill>
              <a:srgbClr val="70AD47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38100"/>
              <a:ext cx="12687808" cy="4292930"/>
            </a:xfrm>
            <a:prstGeom prst="rect">
              <a:avLst/>
            </a:prstGeom>
          </p:spPr>
          <p:txBody>
            <a:bodyPr anchor="t" rtlCol="false" tIns="50800" lIns="50800" bIns="50800" rIns="50800"/>
            <a:lstStyle/>
            <a:p>
              <a:pPr algn="l">
                <a:lnSpc>
                  <a:spcPts val="3240"/>
                </a:lnSpc>
              </a:pPr>
              <a:r>
                <a:rPr lang="en-US" sz="3000" b="true">
                  <a:solidFill>
                    <a:srgbClr val="000000"/>
                  </a:solidFill>
                  <a:latin typeface="Century Gothic Paneuropean Bold"/>
                  <a:ea typeface="Century Gothic Paneuropean Bold"/>
                  <a:cs typeface="Century Gothic Paneuropean Bold"/>
                  <a:sym typeface="Century Gothic Paneuropean Bold"/>
                </a:rPr>
                <a:t>Team: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877162" y="6778600"/>
            <a:ext cx="2778557" cy="2737656"/>
            <a:chOff x="0" y="0"/>
            <a:chExt cx="3704742" cy="3650209"/>
          </a:xfrm>
        </p:grpSpPr>
        <p:sp>
          <p:nvSpPr>
            <p:cNvPr name="Freeform 8" id="8" descr="UAS-B New Logo and Diamond Jubilee Year Logo – DEPARTMENT OF ..."/>
            <p:cNvSpPr/>
            <p:nvPr/>
          </p:nvSpPr>
          <p:spPr>
            <a:xfrm flipH="false" flipV="false" rot="0">
              <a:off x="0" y="0"/>
              <a:ext cx="3704717" cy="3650234"/>
            </a:xfrm>
            <a:custGeom>
              <a:avLst/>
              <a:gdLst/>
              <a:ahLst/>
              <a:cxnLst/>
              <a:rect r="r" b="b" t="t" l="l"/>
              <a:pathLst>
                <a:path h="3650234" w="3704717">
                  <a:moveTo>
                    <a:pt x="0" y="0"/>
                  </a:moveTo>
                  <a:lnTo>
                    <a:pt x="3704717" y="0"/>
                  </a:lnTo>
                  <a:lnTo>
                    <a:pt x="3704717" y="3650234"/>
                  </a:lnTo>
                  <a:lnTo>
                    <a:pt x="0" y="365023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64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3258312" y="539467"/>
            <a:ext cx="12675870" cy="5087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</a:pPr>
            <a:r>
              <a:rPr lang="en-US" b="true" sz="3000" i="true">
                <a:solidFill>
                  <a:srgbClr val="0000FF"/>
                </a:solidFill>
                <a:latin typeface="Century Gothic Paneuropean Bold Italics"/>
                <a:ea typeface="Century Gothic Paneuropean Bold Italics"/>
                <a:cs typeface="Century Gothic Paneuropean Bold Italics"/>
                <a:sym typeface="Century Gothic Paneuropean Bold Italics"/>
              </a:rPr>
              <a:t>PROJECT REPORT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082165" y="2774823"/>
            <a:ext cx="14448282" cy="2378202"/>
            <a:chOff x="0" y="0"/>
            <a:chExt cx="19264376" cy="31709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2700" y="12700"/>
              <a:ext cx="19238976" cy="3145536"/>
            </a:xfrm>
            <a:custGeom>
              <a:avLst/>
              <a:gdLst/>
              <a:ahLst/>
              <a:cxnLst/>
              <a:rect r="r" b="b" t="t" l="l"/>
              <a:pathLst>
                <a:path h="3145536" w="19238976">
                  <a:moveTo>
                    <a:pt x="0" y="524256"/>
                  </a:moveTo>
                  <a:cubicBezTo>
                    <a:pt x="0" y="234696"/>
                    <a:pt x="236347" y="0"/>
                    <a:pt x="527812" y="0"/>
                  </a:cubicBezTo>
                  <a:lnTo>
                    <a:pt x="18711163" y="0"/>
                  </a:lnTo>
                  <a:cubicBezTo>
                    <a:pt x="19002628" y="0"/>
                    <a:pt x="19238976" y="234696"/>
                    <a:pt x="19238976" y="524256"/>
                  </a:cubicBezTo>
                  <a:lnTo>
                    <a:pt x="19238976" y="2621280"/>
                  </a:lnTo>
                  <a:cubicBezTo>
                    <a:pt x="19238976" y="2910840"/>
                    <a:pt x="19002628" y="3145536"/>
                    <a:pt x="18711163" y="3145536"/>
                  </a:cubicBezTo>
                  <a:lnTo>
                    <a:pt x="527812" y="3145536"/>
                  </a:lnTo>
                  <a:cubicBezTo>
                    <a:pt x="236347" y="3145536"/>
                    <a:pt x="0" y="2910840"/>
                    <a:pt x="0" y="262128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264376" cy="3170936"/>
            </a:xfrm>
            <a:custGeom>
              <a:avLst/>
              <a:gdLst/>
              <a:ahLst/>
              <a:cxnLst/>
              <a:rect r="r" b="b" t="t" l="l"/>
              <a:pathLst>
                <a:path h="3170936" w="19264376">
                  <a:moveTo>
                    <a:pt x="0" y="536956"/>
                  </a:moveTo>
                  <a:cubicBezTo>
                    <a:pt x="0" y="240284"/>
                    <a:pt x="242062" y="0"/>
                    <a:pt x="540512" y="0"/>
                  </a:cubicBezTo>
                  <a:lnTo>
                    <a:pt x="18723863" y="0"/>
                  </a:lnTo>
                  <a:lnTo>
                    <a:pt x="18723863" y="12700"/>
                  </a:lnTo>
                  <a:lnTo>
                    <a:pt x="18723863" y="0"/>
                  </a:lnTo>
                  <a:cubicBezTo>
                    <a:pt x="19022313" y="0"/>
                    <a:pt x="19264376" y="240284"/>
                    <a:pt x="19264376" y="536956"/>
                  </a:cubicBezTo>
                  <a:lnTo>
                    <a:pt x="19251676" y="536956"/>
                  </a:lnTo>
                  <a:lnTo>
                    <a:pt x="19264376" y="536956"/>
                  </a:lnTo>
                  <a:lnTo>
                    <a:pt x="19264376" y="2633980"/>
                  </a:lnTo>
                  <a:lnTo>
                    <a:pt x="19251676" y="2633980"/>
                  </a:lnTo>
                  <a:lnTo>
                    <a:pt x="19264376" y="2633980"/>
                  </a:lnTo>
                  <a:cubicBezTo>
                    <a:pt x="19264376" y="2930652"/>
                    <a:pt x="19022313" y="3170936"/>
                    <a:pt x="18723863" y="3170936"/>
                  </a:cubicBezTo>
                  <a:lnTo>
                    <a:pt x="18723863" y="3158236"/>
                  </a:lnTo>
                  <a:lnTo>
                    <a:pt x="18723863" y="3170936"/>
                  </a:lnTo>
                  <a:lnTo>
                    <a:pt x="540512" y="3170936"/>
                  </a:lnTo>
                  <a:lnTo>
                    <a:pt x="540512" y="3158236"/>
                  </a:lnTo>
                  <a:lnTo>
                    <a:pt x="540512" y="3170936"/>
                  </a:lnTo>
                  <a:cubicBezTo>
                    <a:pt x="242062" y="3170936"/>
                    <a:pt x="0" y="2930652"/>
                    <a:pt x="0" y="2633980"/>
                  </a:cubicBezTo>
                  <a:lnTo>
                    <a:pt x="0" y="536956"/>
                  </a:lnTo>
                  <a:lnTo>
                    <a:pt x="12700" y="536956"/>
                  </a:lnTo>
                  <a:lnTo>
                    <a:pt x="0" y="536956"/>
                  </a:lnTo>
                  <a:moveTo>
                    <a:pt x="25400" y="536956"/>
                  </a:moveTo>
                  <a:lnTo>
                    <a:pt x="25400" y="2633980"/>
                  </a:lnTo>
                  <a:lnTo>
                    <a:pt x="12700" y="2633980"/>
                  </a:lnTo>
                  <a:lnTo>
                    <a:pt x="25400" y="2633980"/>
                  </a:lnTo>
                  <a:cubicBezTo>
                    <a:pt x="25400" y="2916428"/>
                    <a:pt x="255905" y="3145536"/>
                    <a:pt x="540512" y="3145536"/>
                  </a:cubicBezTo>
                  <a:lnTo>
                    <a:pt x="18723863" y="3145536"/>
                  </a:lnTo>
                  <a:cubicBezTo>
                    <a:pt x="19008471" y="3145536"/>
                    <a:pt x="19238976" y="2916428"/>
                    <a:pt x="19238976" y="2633980"/>
                  </a:cubicBezTo>
                  <a:lnTo>
                    <a:pt x="19238976" y="536956"/>
                  </a:lnTo>
                  <a:cubicBezTo>
                    <a:pt x="19238976" y="254508"/>
                    <a:pt x="19008471" y="25400"/>
                    <a:pt x="18723863" y="25400"/>
                  </a:cubicBezTo>
                  <a:lnTo>
                    <a:pt x="540512" y="25400"/>
                  </a:lnTo>
                  <a:lnTo>
                    <a:pt x="540512" y="12700"/>
                  </a:lnTo>
                  <a:lnTo>
                    <a:pt x="540512" y="25400"/>
                  </a:lnTo>
                  <a:cubicBezTo>
                    <a:pt x="255905" y="25400"/>
                    <a:pt x="25400" y="254508"/>
                    <a:pt x="25400" y="536956"/>
                  </a:cubicBezTo>
                  <a:close/>
                </a:path>
              </a:pathLst>
            </a:custGeom>
            <a:solidFill>
              <a:srgbClr val="5B9BD5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0"/>
              <a:ext cx="19264376" cy="317093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3600"/>
                </a:lnSpc>
              </a:pPr>
              <a:r>
                <a:rPr lang="en-US" b="true" sz="3000" i="true">
                  <a:solidFill>
                    <a:srgbClr val="0000FF"/>
                  </a:solidFill>
                  <a:latin typeface="Century Gothic Paneuropean Bold Italics"/>
                  <a:ea typeface="Century Gothic Paneuropean Bold Italics"/>
                  <a:cs typeface="Century Gothic Paneuropean Bold Italics"/>
                  <a:sym typeface="Century Gothic Paneuropean Bold Italics"/>
                </a:rPr>
                <a:t>Project Title:</a:t>
              </a:r>
            </a:p>
            <a:p>
              <a:pPr algn="ctr">
                <a:lnSpc>
                  <a:spcPts val="3600"/>
                </a:lnSpc>
              </a:pPr>
            </a:p>
            <a:p>
              <a:pPr algn="ctr">
                <a:lnSpc>
                  <a:spcPts val="3600"/>
                </a:lnSpc>
              </a:pPr>
            </a:p>
            <a:p>
              <a:pPr algn="ctr">
                <a:lnSpc>
                  <a:spcPts val="3600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843401" y="3060906"/>
            <a:ext cx="14448282" cy="1638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Early Crop Stress Detection System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“Invisible to Insight”</a:t>
            </a:r>
          </a:p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                AI-Based Crop Stress Detection Using Microclimate Fluctuations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858125" y="7134225"/>
            <a:ext cx="9515856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Dev Kumar Sharma - AMB2056</a:t>
            </a:r>
          </a:p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Jeevitha S                  - AMB2094</a:t>
            </a:r>
          </a:p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b="true" sz="2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Hemant Sharma       - AMB2086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E9C46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9C46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9679943"/>
            <a:ext cx="18313403" cy="619763"/>
            <a:chOff x="0" y="0"/>
            <a:chExt cx="24417871" cy="8263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792480"/>
            </a:xfrm>
            <a:custGeom>
              <a:avLst/>
              <a:gdLst/>
              <a:ahLst/>
              <a:cxnLst/>
              <a:rect r="r" b="b" t="t" l="l"/>
              <a:pathLst>
                <a:path h="79248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792480"/>
                  </a:lnTo>
                  <a:lnTo>
                    <a:pt x="0" y="79248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826264"/>
            </a:xfrm>
            <a:custGeom>
              <a:avLst/>
              <a:gdLst/>
              <a:ahLst/>
              <a:cxnLst/>
              <a:rect r="r" b="b" t="t" l="l"/>
              <a:pathLst>
                <a:path h="82626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809371"/>
                  </a:lnTo>
                  <a:cubicBezTo>
                    <a:pt x="24417782" y="818769"/>
                    <a:pt x="24410163" y="826262"/>
                    <a:pt x="24400890" y="826262"/>
                  </a:cubicBezTo>
                  <a:lnTo>
                    <a:pt x="16891" y="826262"/>
                  </a:lnTo>
                  <a:cubicBezTo>
                    <a:pt x="7620" y="826389"/>
                    <a:pt x="0" y="818769"/>
                    <a:pt x="0" y="8093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09371"/>
                  </a:lnTo>
                  <a:lnTo>
                    <a:pt x="16891" y="809371"/>
                  </a:lnTo>
                  <a:lnTo>
                    <a:pt x="16891" y="792480"/>
                  </a:lnTo>
                  <a:lnTo>
                    <a:pt x="24400890" y="792480"/>
                  </a:lnTo>
                  <a:lnTo>
                    <a:pt x="24400890" y="809371"/>
                  </a:lnTo>
                  <a:lnTo>
                    <a:pt x="24384000" y="80937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35380" y="1005840"/>
            <a:ext cx="10607040" cy="8321040"/>
            <a:chOff x="0" y="0"/>
            <a:chExt cx="14142720" cy="1109472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4142720" cy="11094720"/>
            </a:xfrm>
            <a:custGeom>
              <a:avLst/>
              <a:gdLst/>
              <a:ahLst/>
              <a:cxnLst/>
              <a:rect r="r" b="b" t="t" l="l"/>
              <a:pathLst>
                <a:path h="11094720" w="14142720">
                  <a:moveTo>
                    <a:pt x="0" y="0"/>
                  </a:moveTo>
                  <a:lnTo>
                    <a:pt x="14142720" y="0"/>
                  </a:lnTo>
                  <a:lnTo>
                    <a:pt x="14142720" y="11094720"/>
                  </a:lnTo>
                  <a:lnTo>
                    <a:pt x="0" y="11094720"/>
                  </a:lnTo>
                  <a:close/>
                </a:path>
              </a:pathLst>
            </a:custGeom>
            <a:solidFill>
              <a:srgbClr val="F8F9F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84583" y="993143"/>
            <a:ext cx="208283" cy="8346443"/>
            <a:chOff x="0" y="0"/>
            <a:chExt cx="277711" cy="111285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16891" y="16891"/>
              <a:ext cx="243840" cy="11094720"/>
            </a:xfrm>
            <a:custGeom>
              <a:avLst/>
              <a:gdLst/>
              <a:ahLst/>
              <a:cxnLst/>
              <a:rect r="r" b="b" t="t" l="l"/>
              <a:pathLst>
                <a:path h="11094720" w="243840">
                  <a:moveTo>
                    <a:pt x="0" y="0"/>
                  </a:moveTo>
                  <a:lnTo>
                    <a:pt x="243840" y="0"/>
                  </a:lnTo>
                  <a:lnTo>
                    <a:pt x="243840" y="11094720"/>
                  </a:lnTo>
                  <a:lnTo>
                    <a:pt x="0" y="11094720"/>
                  </a:lnTo>
                  <a:close/>
                </a:path>
              </a:pathLst>
            </a:custGeom>
            <a:solidFill>
              <a:srgbClr val="E9C46A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77622" cy="11128501"/>
            </a:xfrm>
            <a:custGeom>
              <a:avLst/>
              <a:gdLst/>
              <a:ahLst/>
              <a:cxnLst/>
              <a:rect r="r" b="b" t="t" l="l"/>
              <a:pathLst>
                <a:path h="11128501" w="277622">
                  <a:moveTo>
                    <a:pt x="16891" y="0"/>
                  </a:moveTo>
                  <a:lnTo>
                    <a:pt x="260731" y="0"/>
                  </a:lnTo>
                  <a:cubicBezTo>
                    <a:pt x="270129" y="0"/>
                    <a:pt x="277622" y="7620"/>
                    <a:pt x="277622" y="16891"/>
                  </a:cubicBezTo>
                  <a:lnTo>
                    <a:pt x="277622" y="11111611"/>
                  </a:lnTo>
                  <a:cubicBezTo>
                    <a:pt x="277622" y="11121009"/>
                    <a:pt x="270002" y="11128501"/>
                    <a:pt x="260731" y="11128501"/>
                  </a:cubicBezTo>
                  <a:lnTo>
                    <a:pt x="16891" y="11128501"/>
                  </a:lnTo>
                  <a:cubicBezTo>
                    <a:pt x="7493" y="11128501"/>
                    <a:pt x="0" y="11120882"/>
                    <a:pt x="0" y="111116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11611"/>
                  </a:lnTo>
                  <a:lnTo>
                    <a:pt x="16891" y="11111611"/>
                  </a:lnTo>
                  <a:lnTo>
                    <a:pt x="16891" y="11094720"/>
                  </a:lnTo>
                  <a:lnTo>
                    <a:pt x="260731" y="11094720"/>
                  </a:lnTo>
                  <a:lnTo>
                    <a:pt x="260731" y="11111611"/>
                  </a:lnTo>
                  <a:lnTo>
                    <a:pt x="243840" y="11111611"/>
                  </a:lnTo>
                  <a:lnTo>
                    <a:pt x="243840" y="16891"/>
                  </a:lnTo>
                  <a:lnTo>
                    <a:pt x="260731" y="16891"/>
                  </a:lnTo>
                  <a:lnTo>
                    <a:pt x="2607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9C46A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645920" y="1280160"/>
            <a:ext cx="9692640" cy="640080"/>
            <a:chOff x="0" y="0"/>
            <a:chExt cx="12923520" cy="85344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2923520" cy="853440"/>
            </a:xfrm>
            <a:custGeom>
              <a:avLst/>
              <a:gdLst/>
              <a:ahLst/>
              <a:cxnLst/>
              <a:rect r="r" b="b" t="t" l="l"/>
              <a:pathLst>
                <a:path h="853440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5059" r="0" b="-245059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29235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2D6A4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UNIVERSITY OF AGRICULTURAL SCIENCES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45920" y="1828800"/>
            <a:ext cx="9692640" cy="512064"/>
            <a:chOff x="0" y="0"/>
            <a:chExt cx="12923520" cy="68275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2923520" cy="682752"/>
            </a:xfrm>
            <a:custGeom>
              <a:avLst/>
              <a:gdLst/>
              <a:ahLst/>
              <a:cxnLst/>
              <a:rect r="r" b="b" t="t" l="l"/>
              <a:pathLst>
                <a:path h="682752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8823" r="0" b="-31882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2923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>
                  <a:solidFill>
                    <a:srgbClr val="6B7C6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College of Agriculture, GKVK, Bengaluru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645920" y="2286000"/>
            <a:ext cx="9692640" cy="512064"/>
            <a:chOff x="0" y="0"/>
            <a:chExt cx="12923520" cy="682752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2923520" cy="682752"/>
            </a:xfrm>
            <a:custGeom>
              <a:avLst/>
              <a:gdLst/>
              <a:ahLst/>
              <a:cxnLst/>
              <a:rect r="r" b="b" t="t" l="l"/>
              <a:pathLst>
                <a:path h="682752" w="12923520">
                  <a:moveTo>
                    <a:pt x="0" y="0"/>
                  </a:moveTo>
                  <a:lnTo>
                    <a:pt x="12923520" y="0"/>
                  </a:lnTo>
                  <a:lnTo>
                    <a:pt x="129235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8823" r="0" b="-31882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29235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160"/>
                </a:lnSpc>
              </a:pPr>
              <a:r>
                <a:rPr lang="en-US" sz="1800" i="true">
                  <a:solidFill>
                    <a:srgbClr val="6B7C6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EAI-421: Application of AI &amp; ML in Agriculture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633223" y="2913383"/>
            <a:ext cx="9169403" cy="61979"/>
            <a:chOff x="0" y="0"/>
            <a:chExt cx="12225871" cy="82639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6891" y="16891"/>
              <a:ext cx="12192000" cy="48768"/>
            </a:xfrm>
            <a:custGeom>
              <a:avLst/>
              <a:gdLst/>
              <a:ahLst/>
              <a:cxnLst/>
              <a:rect r="r" b="b" t="t" l="l"/>
              <a:pathLst>
                <a:path h="48768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2225782" cy="82552"/>
            </a:xfrm>
            <a:custGeom>
              <a:avLst/>
              <a:gdLst/>
              <a:ahLst/>
              <a:cxnLst/>
              <a:rect r="r" b="b" t="t" l="l"/>
              <a:pathLst>
                <a:path h="82552" w="12225782">
                  <a:moveTo>
                    <a:pt x="16891" y="0"/>
                  </a:moveTo>
                  <a:lnTo>
                    <a:pt x="12208891" y="0"/>
                  </a:lnTo>
                  <a:cubicBezTo>
                    <a:pt x="12218289" y="0"/>
                    <a:pt x="12225782" y="7620"/>
                    <a:pt x="12225782" y="16891"/>
                  </a:cubicBezTo>
                  <a:lnTo>
                    <a:pt x="12225782" y="65659"/>
                  </a:lnTo>
                  <a:cubicBezTo>
                    <a:pt x="12225782" y="75057"/>
                    <a:pt x="12218162" y="82550"/>
                    <a:pt x="12208891" y="82550"/>
                  </a:cubicBezTo>
                  <a:lnTo>
                    <a:pt x="16891" y="82550"/>
                  </a:lnTo>
                  <a:cubicBezTo>
                    <a:pt x="7620" y="82677"/>
                    <a:pt x="0" y="75057"/>
                    <a:pt x="0" y="656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659"/>
                  </a:lnTo>
                  <a:lnTo>
                    <a:pt x="16891" y="65659"/>
                  </a:lnTo>
                  <a:lnTo>
                    <a:pt x="16891" y="48768"/>
                  </a:lnTo>
                  <a:lnTo>
                    <a:pt x="12208891" y="48768"/>
                  </a:lnTo>
                  <a:lnTo>
                    <a:pt x="12208891" y="65659"/>
                  </a:lnTo>
                  <a:lnTo>
                    <a:pt x="12192000" y="65659"/>
                  </a:lnTo>
                  <a:lnTo>
                    <a:pt x="12192000" y="16891"/>
                  </a:lnTo>
                  <a:lnTo>
                    <a:pt x="12208891" y="16891"/>
                  </a:lnTo>
                  <a:lnTo>
                    <a:pt x="122088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1633223" y="4642237"/>
            <a:ext cx="8471382" cy="1221834"/>
            <a:chOff x="0" y="0"/>
            <a:chExt cx="12679680" cy="1828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679680" cy="1828800"/>
            </a:xfrm>
            <a:custGeom>
              <a:avLst/>
              <a:gdLst/>
              <a:ahLst/>
              <a:cxnLst/>
              <a:rect r="r" b="b" t="t" l="l"/>
              <a:pathLst>
                <a:path h="1828800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85096" r="0" b="-85096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12679680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720"/>
                </a:lnSpc>
              </a:pPr>
              <a:r>
                <a:rPr lang="en-US" b="true" sz="5600" i="true">
                  <a:solidFill>
                    <a:srgbClr val="2E7D32"/>
                  </a:solidFill>
                  <a:latin typeface="Georgia Bold Italics"/>
                  <a:ea typeface="Georgia Bold Italics"/>
                  <a:cs typeface="Georgia Bold Italics"/>
                  <a:sym typeface="Georgia Bold Italics"/>
                </a:rPr>
                <a:t>“</a:t>
              </a:r>
              <a:r>
                <a:rPr lang="en-US" b="true" sz="5600" i="true">
                  <a:solidFill>
                    <a:srgbClr val="2E7D32"/>
                  </a:solidFill>
                  <a:latin typeface="Georgia Bold Italics"/>
                  <a:ea typeface="Georgia Bold Italics"/>
                  <a:cs typeface="Georgia Bold Italics"/>
                  <a:sym typeface="Georgia Bold Italics"/>
                </a:rPr>
                <a:t>Invisible to Insight”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645920" y="2975362"/>
            <a:ext cx="9509760" cy="2070947"/>
            <a:chOff x="0" y="0"/>
            <a:chExt cx="12679680" cy="276126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2679680" cy="2761263"/>
            </a:xfrm>
            <a:custGeom>
              <a:avLst/>
              <a:gdLst/>
              <a:ahLst/>
              <a:cxnLst/>
              <a:rect r="r" b="b" t="t" l="l"/>
              <a:pathLst>
                <a:path h="2761263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2761263"/>
                  </a:lnTo>
                  <a:lnTo>
                    <a:pt x="0" y="276126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9605" r="0" b="-9344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14300"/>
              <a:ext cx="12679680" cy="287556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119"/>
                </a:lnSpc>
              </a:pPr>
              <a:r>
                <a:rPr lang="en-US" sz="5099" b="true">
                  <a:solidFill>
                    <a:srgbClr val="1B4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                        </a:t>
              </a:r>
              <a:r>
                <a:rPr lang="en-US" sz="5099" u="sng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TITLE</a:t>
              </a:r>
            </a:p>
            <a:p>
              <a:pPr algn="l">
                <a:lnSpc>
                  <a:spcPts val="6119"/>
                </a:lnSpc>
              </a:pPr>
              <a:r>
                <a:rPr lang="en-US" b="true" sz="5099">
                  <a:solidFill>
                    <a:srgbClr val="1B4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Early Crop Stress Detection System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645920" y="5669280"/>
            <a:ext cx="9509760" cy="822960"/>
            <a:chOff x="0" y="0"/>
            <a:chExt cx="12679680" cy="109728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2679680" cy="1097280"/>
            </a:xfrm>
            <a:custGeom>
              <a:avLst/>
              <a:gdLst/>
              <a:ahLst/>
              <a:cxnLst/>
              <a:rect r="r" b="b" t="t" l="l"/>
              <a:pathLst>
                <a:path h="1097280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5160" r="0" b="-17516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1267968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i="true">
                  <a:solidFill>
                    <a:srgbClr val="6B7C6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AI-Based Crop Stress Detection Using Microclimate Fluctuations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633223" y="6709471"/>
            <a:ext cx="9169403" cy="61979"/>
            <a:chOff x="0" y="0"/>
            <a:chExt cx="12225871" cy="82639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12192000" cy="48768"/>
            </a:xfrm>
            <a:custGeom>
              <a:avLst/>
              <a:gdLst/>
              <a:ahLst/>
              <a:cxnLst/>
              <a:rect r="r" b="b" t="t" l="l"/>
              <a:pathLst>
                <a:path h="48768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225782" cy="82552"/>
            </a:xfrm>
            <a:custGeom>
              <a:avLst/>
              <a:gdLst/>
              <a:ahLst/>
              <a:cxnLst/>
              <a:rect r="r" b="b" t="t" l="l"/>
              <a:pathLst>
                <a:path h="82552" w="12225782">
                  <a:moveTo>
                    <a:pt x="16891" y="0"/>
                  </a:moveTo>
                  <a:lnTo>
                    <a:pt x="12208891" y="0"/>
                  </a:lnTo>
                  <a:cubicBezTo>
                    <a:pt x="12218289" y="0"/>
                    <a:pt x="12225782" y="7620"/>
                    <a:pt x="12225782" y="16891"/>
                  </a:cubicBezTo>
                  <a:lnTo>
                    <a:pt x="12225782" y="65659"/>
                  </a:lnTo>
                  <a:cubicBezTo>
                    <a:pt x="12225782" y="75057"/>
                    <a:pt x="12218162" y="82550"/>
                    <a:pt x="12208891" y="82550"/>
                  </a:cubicBezTo>
                  <a:lnTo>
                    <a:pt x="16891" y="82550"/>
                  </a:lnTo>
                  <a:cubicBezTo>
                    <a:pt x="7620" y="82677"/>
                    <a:pt x="0" y="75057"/>
                    <a:pt x="0" y="656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659"/>
                  </a:lnTo>
                  <a:lnTo>
                    <a:pt x="16891" y="65659"/>
                  </a:lnTo>
                  <a:lnTo>
                    <a:pt x="16891" y="48768"/>
                  </a:lnTo>
                  <a:lnTo>
                    <a:pt x="12208891" y="48768"/>
                  </a:lnTo>
                  <a:lnTo>
                    <a:pt x="12208891" y="65659"/>
                  </a:lnTo>
                  <a:lnTo>
                    <a:pt x="12192000" y="65659"/>
                  </a:lnTo>
                  <a:lnTo>
                    <a:pt x="12192000" y="16891"/>
                  </a:lnTo>
                  <a:lnTo>
                    <a:pt x="12208891" y="16891"/>
                  </a:lnTo>
                  <a:lnTo>
                    <a:pt x="122088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37" id="37"/>
          <p:cNvGrpSpPr/>
          <p:nvPr/>
        </p:nvGrpSpPr>
        <p:grpSpPr>
          <a:xfrm rot="0">
            <a:off x="1645920" y="6916426"/>
            <a:ext cx="9509760" cy="698674"/>
            <a:chOff x="0" y="0"/>
            <a:chExt cx="12679680" cy="931565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12679680" cy="931565"/>
            </a:xfrm>
            <a:custGeom>
              <a:avLst/>
              <a:gdLst/>
              <a:ahLst/>
              <a:cxnLst/>
              <a:rect r="r" b="b" t="t" l="l"/>
              <a:pathLst>
                <a:path h="931565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931565"/>
                  </a:lnTo>
                  <a:lnTo>
                    <a:pt x="0" y="93156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5951" r="0" b="-204476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12679680" cy="969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B4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Team: </a:t>
              </a:r>
              <a:r>
                <a:rPr lang="en-US" sz="20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Dev Kumar Sharma | Hemant Sharma | Jeevitha S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             AMB 2056                   AMB 2086              AMB 2094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2240263" y="1267463"/>
            <a:ext cx="5146043" cy="7523483"/>
            <a:chOff x="0" y="0"/>
            <a:chExt cx="6861391" cy="1003131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16891" y="16891"/>
              <a:ext cx="6827520" cy="9997440"/>
            </a:xfrm>
            <a:custGeom>
              <a:avLst/>
              <a:gdLst/>
              <a:ahLst/>
              <a:cxnLst/>
              <a:rect r="r" b="b" t="t" l="l"/>
              <a:pathLst>
                <a:path h="9997440" w="6827520">
                  <a:moveTo>
                    <a:pt x="0" y="0"/>
                  </a:moveTo>
                  <a:lnTo>
                    <a:pt x="6827520" y="0"/>
                  </a:lnTo>
                  <a:lnTo>
                    <a:pt x="6827520" y="9997440"/>
                  </a:lnTo>
                  <a:lnTo>
                    <a:pt x="0" y="999744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6861301" cy="10031222"/>
            </a:xfrm>
            <a:custGeom>
              <a:avLst/>
              <a:gdLst/>
              <a:ahLst/>
              <a:cxnLst/>
              <a:rect r="r" b="b" t="t" l="l"/>
              <a:pathLst>
                <a:path h="10031222" w="6861301">
                  <a:moveTo>
                    <a:pt x="16891" y="0"/>
                  </a:moveTo>
                  <a:lnTo>
                    <a:pt x="6844411" y="0"/>
                  </a:lnTo>
                  <a:cubicBezTo>
                    <a:pt x="6853809" y="0"/>
                    <a:pt x="6861301" y="7620"/>
                    <a:pt x="6861301" y="16891"/>
                  </a:cubicBezTo>
                  <a:lnTo>
                    <a:pt x="6861301" y="10014331"/>
                  </a:lnTo>
                  <a:cubicBezTo>
                    <a:pt x="6861301" y="10023729"/>
                    <a:pt x="6853682" y="10031222"/>
                    <a:pt x="6844411" y="10031222"/>
                  </a:cubicBezTo>
                  <a:lnTo>
                    <a:pt x="16891" y="10031222"/>
                  </a:lnTo>
                  <a:cubicBezTo>
                    <a:pt x="7493" y="10031222"/>
                    <a:pt x="0" y="10023602"/>
                    <a:pt x="0" y="10014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014331"/>
                  </a:lnTo>
                  <a:lnTo>
                    <a:pt x="16891" y="10014331"/>
                  </a:lnTo>
                  <a:lnTo>
                    <a:pt x="16891" y="9997440"/>
                  </a:lnTo>
                  <a:lnTo>
                    <a:pt x="6844411" y="9997440"/>
                  </a:lnTo>
                  <a:lnTo>
                    <a:pt x="6844411" y="10014331"/>
                  </a:lnTo>
                  <a:lnTo>
                    <a:pt x="6827520" y="10014331"/>
                  </a:lnTo>
                  <a:lnTo>
                    <a:pt x="6827520" y="16891"/>
                  </a:lnTo>
                  <a:lnTo>
                    <a:pt x="6844411" y="16891"/>
                  </a:lnTo>
                  <a:lnTo>
                    <a:pt x="6844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12982403" y="2023110"/>
            <a:ext cx="4023360" cy="2194560"/>
            <a:chOff x="0" y="0"/>
            <a:chExt cx="5364480" cy="292608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5364480" cy="2926080"/>
            </a:xfrm>
            <a:custGeom>
              <a:avLst/>
              <a:gdLst/>
              <a:ahLst/>
              <a:cxnLst/>
              <a:rect r="r" b="b" t="t" l="l"/>
              <a:pathLst>
                <a:path h="2926080" w="5364480">
                  <a:moveTo>
                    <a:pt x="0" y="0"/>
                  </a:moveTo>
                  <a:lnTo>
                    <a:pt x="5364480" y="0"/>
                  </a:lnTo>
                  <a:lnTo>
                    <a:pt x="5364480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9983" t="0" r="-19983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247650"/>
              <a:ext cx="5364480" cy="3173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4400"/>
                </a:lnSpc>
              </a:pPr>
              <a:r>
                <a:rPr lang="en-US" sz="12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🌾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2435840" y="4023360"/>
            <a:ext cx="4754880" cy="1645920"/>
            <a:chOff x="0" y="0"/>
            <a:chExt cx="6339840" cy="219456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339840" cy="2194560"/>
            </a:xfrm>
            <a:custGeom>
              <a:avLst/>
              <a:gdLst/>
              <a:ahLst/>
              <a:cxnLst/>
              <a:rect r="r" b="b" t="t" l="l"/>
              <a:pathLst>
                <a:path h="219456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2194560"/>
                  </a:lnTo>
                  <a:lnTo>
                    <a:pt x="0" y="21945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290" r="0" b="-6290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9525"/>
              <a:ext cx="6339840" cy="22040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E9C46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CROP STRESS</a:t>
              </a:r>
            </a:p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E9C46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DETECTION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2435840" y="5760720"/>
            <a:ext cx="4754880" cy="2377440"/>
            <a:chOff x="0" y="0"/>
            <a:chExt cx="6339840" cy="316992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6339840" cy="3169920"/>
            </a:xfrm>
            <a:custGeom>
              <a:avLst/>
              <a:gdLst/>
              <a:ahLst/>
              <a:cxnLst/>
              <a:rect r="r" b="b" t="t" l="l"/>
              <a:pathLst>
                <a:path h="3169920" w="6339840">
                  <a:moveTo>
                    <a:pt x="0" y="0"/>
                  </a:moveTo>
                  <a:lnTo>
                    <a:pt x="6339840" y="0"/>
                  </a:lnTo>
                  <a:lnTo>
                    <a:pt x="6339840" y="3169920"/>
                  </a:lnTo>
                  <a:lnTo>
                    <a:pt x="0" y="31699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6339840" cy="32080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D8F3D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Random Forest  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D8F3D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84% Accuracy  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D8F3D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2,500+ Records  </a:t>
              </a:r>
            </a:p>
            <a:p>
              <a:pPr algn="ctr">
                <a:lnSpc>
                  <a:spcPts val="2280"/>
                </a:lnSpc>
              </a:pPr>
              <a:r>
                <a:rPr lang="en-US" sz="1900">
                  <a:solidFill>
                    <a:srgbClr val="D8F3D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Predictive Model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-12697" y="9679943"/>
            <a:ext cx="18313403" cy="61979"/>
            <a:chOff x="0" y="0"/>
            <a:chExt cx="24417871" cy="82639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16891" y="16891"/>
              <a:ext cx="24383999" cy="48768"/>
            </a:xfrm>
            <a:custGeom>
              <a:avLst/>
              <a:gdLst/>
              <a:ahLst/>
              <a:cxnLst/>
              <a:rect r="r" b="b" t="t" l="l"/>
              <a:pathLst>
                <a:path h="4876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48768"/>
                  </a:lnTo>
                  <a:lnTo>
                    <a:pt x="0" y="48768"/>
                  </a:lnTo>
                  <a:close/>
                </a:path>
              </a:pathLst>
            </a:custGeom>
            <a:solidFill>
              <a:srgbClr val="E9C46A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4417782" cy="82552"/>
            </a:xfrm>
            <a:custGeom>
              <a:avLst/>
              <a:gdLst/>
              <a:ahLst/>
              <a:cxnLst/>
              <a:rect r="r" b="b" t="t" l="l"/>
              <a:pathLst>
                <a:path h="82552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65659"/>
                  </a:lnTo>
                  <a:cubicBezTo>
                    <a:pt x="24417782" y="75057"/>
                    <a:pt x="24410163" y="82550"/>
                    <a:pt x="24400890" y="82550"/>
                  </a:cubicBezTo>
                  <a:lnTo>
                    <a:pt x="16891" y="82550"/>
                  </a:lnTo>
                  <a:cubicBezTo>
                    <a:pt x="7620" y="82677"/>
                    <a:pt x="0" y="75057"/>
                    <a:pt x="0" y="6565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65659"/>
                  </a:lnTo>
                  <a:lnTo>
                    <a:pt x="16891" y="65659"/>
                  </a:lnTo>
                  <a:lnTo>
                    <a:pt x="16891" y="48768"/>
                  </a:lnTo>
                  <a:lnTo>
                    <a:pt x="24400890" y="48768"/>
                  </a:lnTo>
                  <a:lnTo>
                    <a:pt x="24400890" y="65659"/>
                  </a:lnTo>
                  <a:lnTo>
                    <a:pt x="24384000" y="6565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9C46A"/>
            </a:solidFill>
          </p:spPr>
        </p:sp>
      </p:grpSp>
      <p:grpSp>
        <p:nvGrpSpPr>
          <p:cNvPr name="Group 55" id="55"/>
          <p:cNvGrpSpPr/>
          <p:nvPr/>
        </p:nvGrpSpPr>
        <p:grpSpPr>
          <a:xfrm rot="0">
            <a:off x="914400" y="9784080"/>
            <a:ext cx="16459200" cy="402336"/>
            <a:chOff x="0" y="0"/>
            <a:chExt cx="21945600" cy="536448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21945600" cy="536448"/>
            </a:xfrm>
            <a:custGeom>
              <a:avLst/>
              <a:gdLst/>
              <a:ahLst/>
              <a:cxnLst/>
              <a:rect r="r" b="b" t="t" l="l"/>
              <a:pathLst>
                <a:path h="536448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36448"/>
                  </a:lnTo>
                  <a:lnTo>
                    <a:pt x="0" y="53644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7115" r="0" b="-747115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28575"/>
              <a:ext cx="21945600" cy="56502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1920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B433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71707" cy="10312403"/>
            <a:chOff x="0" y="0"/>
            <a:chExt cx="228943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19507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E9C46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85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3732890"/>
                  </a:lnTo>
                  <a:cubicBezTo>
                    <a:pt x="228854" y="13742290"/>
                    <a:pt x="221234" y="13749782"/>
                    <a:pt x="2119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11963" y="13716000"/>
                  </a:lnTo>
                  <a:lnTo>
                    <a:pt x="211963" y="13732890"/>
                  </a:lnTo>
                  <a:lnTo>
                    <a:pt x="195072" y="13732890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9C46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497063" y="1541783"/>
            <a:ext cx="47625" cy="8072123"/>
            <a:chOff x="0" y="0"/>
            <a:chExt cx="63500" cy="1076283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4685" y="16891"/>
              <a:ext cx="54106" cy="10728960"/>
            </a:xfrm>
            <a:custGeom>
              <a:avLst/>
              <a:gdLst/>
              <a:ahLst/>
              <a:cxnLst/>
              <a:rect r="r" b="b" t="t" l="l"/>
              <a:pathLst>
                <a:path h="10728960" w="54106">
                  <a:moveTo>
                    <a:pt x="0" y="0"/>
                  </a:moveTo>
                  <a:lnTo>
                    <a:pt x="54105" y="0"/>
                  </a:lnTo>
                  <a:lnTo>
                    <a:pt x="54105" y="10728960"/>
                  </a:lnTo>
                  <a:lnTo>
                    <a:pt x="0" y="10728960"/>
                  </a:lnTo>
                  <a:close/>
                </a:path>
              </a:pathLst>
            </a:custGeom>
            <a:blipFill>
              <a:blip r:embed="rId3"/>
              <a:stretch>
                <a:fillRect l="-25319620" t="-157" r="-25625444" b="-158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3475" cy="10762742"/>
            </a:xfrm>
            <a:custGeom>
              <a:avLst/>
              <a:gdLst/>
              <a:ahLst/>
              <a:cxnLst/>
              <a:rect r="r" b="b" t="t" l="l"/>
              <a:pathLst>
                <a:path h="10762742" w="63475">
                  <a:moveTo>
                    <a:pt x="4685" y="0"/>
                  </a:moveTo>
                  <a:lnTo>
                    <a:pt x="58790" y="0"/>
                  </a:lnTo>
                  <a:cubicBezTo>
                    <a:pt x="61397" y="0"/>
                    <a:pt x="63475" y="7620"/>
                    <a:pt x="63475" y="16891"/>
                  </a:cubicBezTo>
                  <a:lnTo>
                    <a:pt x="63475" y="10745851"/>
                  </a:lnTo>
                  <a:cubicBezTo>
                    <a:pt x="63475" y="10755249"/>
                    <a:pt x="61362" y="10762742"/>
                    <a:pt x="58790" y="10762742"/>
                  </a:cubicBezTo>
                  <a:lnTo>
                    <a:pt x="4685" y="10762742"/>
                  </a:lnTo>
                  <a:cubicBezTo>
                    <a:pt x="2078" y="10762742"/>
                    <a:pt x="0" y="10755122"/>
                    <a:pt x="0" y="10745851"/>
                  </a:cubicBezTo>
                  <a:lnTo>
                    <a:pt x="0" y="16891"/>
                  </a:lnTo>
                  <a:cubicBezTo>
                    <a:pt x="0" y="7620"/>
                    <a:pt x="2113" y="0"/>
                    <a:pt x="4685" y="0"/>
                  </a:cubicBezTo>
                  <a:moveTo>
                    <a:pt x="4685" y="33909"/>
                  </a:moveTo>
                  <a:lnTo>
                    <a:pt x="4685" y="16891"/>
                  </a:lnTo>
                  <a:lnTo>
                    <a:pt x="9405" y="16891"/>
                  </a:lnTo>
                  <a:lnTo>
                    <a:pt x="9405" y="10745851"/>
                  </a:lnTo>
                  <a:lnTo>
                    <a:pt x="4685" y="10745851"/>
                  </a:lnTo>
                  <a:lnTo>
                    <a:pt x="4685" y="10728960"/>
                  </a:lnTo>
                  <a:lnTo>
                    <a:pt x="58790" y="10728960"/>
                  </a:lnTo>
                  <a:lnTo>
                    <a:pt x="58790" y="10745851"/>
                  </a:lnTo>
                  <a:lnTo>
                    <a:pt x="54106" y="10745851"/>
                  </a:lnTo>
                  <a:lnTo>
                    <a:pt x="54106" y="16891"/>
                  </a:lnTo>
                  <a:lnTo>
                    <a:pt x="58790" y="16891"/>
                  </a:lnTo>
                  <a:lnTo>
                    <a:pt x="58790" y="33909"/>
                  </a:lnTo>
                  <a:lnTo>
                    <a:pt x="4685" y="33909"/>
                  </a:lnTo>
                  <a:close/>
                </a:path>
              </a:pathLst>
            </a:custGeom>
            <a:blipFill>
              <a:blip r:embed="rId3"/>
              <a:stretch>
                <a:fillRect l="-21574714" t="0" r="-21835394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-12697" y="9899399"/>
            <a:ext cx="18313403" cy="391163"/>
            <a:chOff x="0" y="0"/>
            <a:chExt cx="24417871" cy="52155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16891" y="16891"/>
              <a:ext cx="24383999" cy="487680"/>
            </a:xfrm>
            <a:custGeom>
              <a:avLst/>
              <a:gdLst/>
              <a:ahLst/>
              <a:cxnLst/>
              <a:rect r="r" b="b" t="t" l="l"/>
              <a:pathLst>
                <a:path h="48768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417782" cy="521464"/>
            </a:xfrm>
            <a:custGeom>
              <a:avLst/>
              <a:gdLst/>
              <a:ahLst/>
              <a:cxnLst/>
              <a:rect r="r" b="b" t="t" l="l"/>
              <a:pathLst>
                <a:path h="52146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504571"/>
                  </a:lnTo>
                  <a:cubicBezTo>
                    <a:pt x="24417782" y="513969"/>
                    <a:pt x="24410163" y="521462"/>
                    <a:pt x="24400890" y="521462"/>
                  </a:cubicBezTo>
                  <a:lnTo>
                    <a:pt x="16891" y="521462"/>
                  </a:lnTo>
                  <a:cubicBezTo>
                    <a:pt x="7620" y="521589"/>
                    <a:pt x="0" y="513969"/>
                    <a:pt x="0" y="504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16891" y="487680"/>
                  </a:lnTo>
                  <a:lnTo>
                    <a:pt x="24400890" y="487680"/>
                  </a:lnTo>
                  <a:lnTo>
                    <a:pt x="24400890" y="504571"/>
                  </a:lnTo>
                  <a:lnTo>
                    <a:pt x="24384000" y="50457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601061" y="219075"/>
            <a:ext cx="5547271" cy="809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321"/>
              </a:lnSpc>
              <a:spcBef>
                <a:spcPct val="0"/>
              </a:spcBef>
            </a:pPr>
            <a:r>
              <a:rPr lang="en-US" b="true" sz="5267">
                <a:solidFill>
                  <a:srgbClr val="FFF3E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Table of content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81032" y="1556266"/>
            <a:ext cx="7004857" cy="79860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8361" indent="-314181" lvl="1">
              <a:lnSpc>
                <a:spcPts val="3492"/>
              </a:lnSpc>
              <a:buAutoNum type="arabicPeriod" startAt="1"/>
            </a:pPr>
            <a:r>
              <a:rPr lang="en-US" b="true" sz="2910">
                <a:solidFill>
                  <a:srgbClr val="4B433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Abstract</a:t>
            </a:r>
          </a:p>
          <a:p>
            <a:pPr algn="l" marL="628361" indent="-314181" lvl="1">
              <a:lnSpc>
                <a:spcPts val="3492"/>
              </a:lnSpc>
              <a:buAutoNum type="arabicPeriod" startAt="1"/>
            </a:pPr>
            <a:r>
              <a:rPr lang="en-US" b="true" sz="2910">
                <a:solidFill>
                  <a:srgbClr val="4B433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Introduction and problem statement</a:t>
            </a:r>
          </a:p>
          <a:p>
            <a:pPr algn="l" marL="628361" indent="-314181" lvl="1">
              <a:lnSpc>
                <a:spcPts val="3492"/>
              </a:lnSpc>
              <a:buAutoNum type="arabicPeriod" startAt="1"/>
            </a:pPr>
            <a:r>
              <a:rPr lang="en-US" b="true" sz="2910">
                <a:solidFill>
                  <a:srgbClr val="4B433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Importance of early crop stress detection</a:t>
            </a:r>
          </a:p>
          <a:p>
            <a:pPr algn="l" marL="628361" indent="-314181" lvl="1">
              <a:lnSpc>
                <a:spcPts val="3492"/>
              </a:lnSpc>
              <a:buAutoNum type="arabicPeriod" startAt="1"/>
            </a:pPr>
            <a:r>
              <a:rPr lang="en-US" b="true" sz="2910">
                <a:solidFill>
                  <a:srgbClr val="4B433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Review of Literature</a:t>
            </a:r>
          </a:p>
          <a:p>
            <a:pPr algn="l" marL="628361" indent="-314181" lvl="1">
              <a:lnSpc>
                <a:spcPts val="3492"/>
              </a:lnSpc>
              <a:buAutoNum type="arabicPeriod" startAt="1"/>
            </a:pPr>
            <a:r>
              <a:rPr lang="en-US" b="true" sz="2910">
                <a:solidFill>
                  <a:srgbClr val="4B433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Data set comparison</a:t>
            </a:r>
          </a:p>
          <a:p>
            <a:pPr algn="l" marL="628361" indent="-314181" lvl="1">
              <a:lnSpc>
                <a:spcPts val="3492"/>
              </a:lnSpc>
              <a:buAutoNum type="arabicPeriod" startAt="1"/>
            </a:pPr>
            <a:r>
              <a:rPr lang="en-US" b="true" sz="2910">
                <a:solidFill>
                  <a:srgbClr val="4B433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CSI formula</a:t>
            </a:r>
          </a:p>
          <a:p>
            <a:pPr algn="l" marL="628361" indent="-314181" lvl="1">
              <a:lnSpc>
                <a:spcPts val="3492"/>
              </a:lnSpc>
              <a:buAutoNum type="arabicPeriod" startAt="1"/>
            </a:pPr>
            <a:r>
              <a:rPr lang="en-US" b="true" sz="2910">
                <a:solidFill>
                  <a:srgbClr val="4B433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Stress classification and ML models</a:t>
            </a:r>
          </a:p>
          <a:p>
            <a:pPr algn="l" marL="628361" indent="-314181" lvl="1">
              <a:lnSpc>
                <a:spcPts val="3492"/>
              </a:lnSpc>
              <a:buAutoNum type="arabicPeriod" startAt="1"/>
            </a:pPr>
            <a:r>
              <a:rPr lang="en-US" b="true" sz="2910">
                <a:solidFill>
                  <a:srgbClr val="4B433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Linear regression </a:t>
            </a:r>
          </a:p>
          <a:p>
            <a:pPr algn="l" marL="628361" indent="-314181" lvl="1">
              <a:lnSpc>
                <a:spcPts val="3492"/>
              </a:lnSpc>
              <a:buAutoNum type="arabicPeriod" startAt="1"/>
            </a:pPr>
            <a:r>
              <a:rPr lang="en-US" b="true" sz="2910">
                <a:solidFill>
                  <a:srgbClr val="4B433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Decision Tree</a:t>
            </a:r>
          </a:p>
          <a:p>
            <a:pPr algn="l" marL="628361" indent="-314181" lvl="1">
              <a:lnSpc>
                <a:spcPts val="3492"/>
              </a:lnSpc>
              <a:buAutoNum type="arabicPeriod" startAt="1"/>
            </a:pPr>
            <a:r>
              <a:rPr lang="en-US" b="true" sz="2910">
                <a:solidFill>
                  <a:srgbClr val="4B433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Random Forest</a:t>
            </a:r>
          </a:p>
          <a:p>
            <a:pPr algn="l" marL="628361" indent="-314181" lvl="1">
              <a:lnSpc>
                <a:spcPts val="3492"/>
              </a:lnSpc>
              <a:buAutoNum type="arabicPeriod" startAt="1"/>
            </a:pPr>
            <a:r>
              <a:rPr lang="en-US" b="true" sz="2910">
                <a:solidFill>
                  <a:srgbClr val="4B433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System architecture </a:t>
            </a:r>
          </a:p>
          <a:p>
            <a:pPr algn="l" marL="628361" indent="-314181" lvl="1">
              <a:lnSpc>
                <a:spcPts val="3492"/>
              </a:lnSpc>
              <a:buAutoNum type="arabicPeriod" startAt="1"/>
            </a:pPr>
            <a:r>
              <a:rPr lang="en-US" b="true" sz="2910">
                <a:solidFill>
                  <a:srgbClr val="4B433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Base paper visualisation </a:t>
            </a:r>
          </a:p>
          <a:p>
            <a:pPr algn="l" marL="628361" indent="-314181" lvl="1">
              <a:lnSpc>
                <a:spcPts val="3492"/>
              </a:lnSpc>
              <a:buAutoNum type="arabicPeriod" startAt="1"/>
            </a:pPr>
            <a:r>
              <a:rPr lang="en-US" b="true" sz="2910">
                <a:solidFill>
                  <a:srgbClr val="4B433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Novel data visualisation </a:t>
            </a:r>
          </a:p>
          <a:p>
            <a:pPr algn="l" marL="628361" indent="-314181" lvl="1">
              <a:lnSpc>
                <a:spcPts val="3492"/>
              </a:lnSpc>
              <a:buAutoNum type="arabicPeriod" startAt="1"/>
            </a:pPr>
            <a:r>
              <a:rPr lang="en-US" b="true" sz="2910">
                <a:solidFill>
                  <a:srgbClr val="4B433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CSI and stress level</a:t>
            </a:r>
          </a:p>
          <a:p>
            <a:pPr algn="l" marL="628361" indent="-314181" lvl="1">
              <a:lnSpc>
                <a:spcPts val="3492"/>
              </a:lnSpc>
              <a:buAutoNum type="arabicPeriod" startAt="1"/>
            </a:pPr>
            <a:r>
              <a:rPr lang="en-US" b="true" sz="2910">
                <a:solidFill>
                  <a:srgbClr val="4B433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Prediction accuracy</a:t>
            </a:r>
          </a:p>
          <a:p>
            <a:pPr algn="l" marL="628361" indent="-314181" lvl="1">
              <a:lnSpc>
                <a:spcPts val="3492"/>
              </a:lnSpc>
              <a:buAutoNum type="arabicPeriod" startAt="1"/>
            </a:pPr>
            <a:r>
              <a:rPr lang="en-US" b="true" sz="2910">
                <a:solidFill>
                  <a:srgbClr val="4B433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Results</a:t>
            </a:r>
          </a:p>
          <a:p>
            <a:pPr algn="l" marL="628361" indent="-314181" lvl="1">
              <a:lnSpc>
                <a:spcPts val="3492"/>
              </a:lnSpc>
              <a:buAutoNum type="arabicPeriod" startAt="1"/>
            </a:pPr>
            <a:r>
              <a:rPr lang="en-US" b="true" sz="2910">
                <a:solidFill>
                  <a:srgbClr val="4B433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Summary &amp; conclusion </a:t>
            </a:r>
          </a:p>
          <a:p>
            <a:pPr algn="l" marL="628361" indent="-314181" lvl="1">
              <a:lnSpc>
                <a:spcPts val="3492"/>
              </a:lnSpc>
              <a:spcBef>
                <a:spcPct val="0"/>
              </a:spcBef>
              <a:buAutoNum type="arabicPeriod" startAt="1"/>
            </a:pPr>
            <a:r>
              <a:rPr lang="en-US" b="true" sz="2910">
                <a:solidFill>
                  <a:srgbClr val="4B433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Scope &amp; reference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B433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71707" cy="10312403"/>
            <a:chOff x="0" y="0"/>
            <a:chExt cx="228943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19507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E9C46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85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3732890"/>
                  </a:lnTo>
                  <a:cubicBezTo>
                    <a:pt x="228854" y="13742290"/>
                    <a:pt x="221234" y="13749782"/>
                    <a:pt x="2119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11963" y="13716000"/>
                  </a:lnTo>
                  <a:lnTo>
                    <a:pt x="211963" y="13732890"/>
                  </a:lnTo>
                  <a:lnTo>
                    <a:pt x="195072" y="13732890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9C46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57200" y="256032"/>
            <a:ext cx="16459200" cy="804672"/>
            <a:chOff x="0" y="0"/>
            <a:chExt cx="21945600" cy="10728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8557" r="0" b="-34855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1945600" cy="1082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280"/>
                </a:lnSpc>
              </a:pPr>
              <a:r>
                <a:rPr lang="en-US" sz="4400" b="true">
                  <a:solidFill>
                    <a:srgbClr val="F8F9F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01  |  Abstract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40080" y="1645920"/>
            <a:ext cx="8229600" cy="548640"/>
            <a:chOff x="0" y="0"/>
            <a:chExt cx="10972800" cy="731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09728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B4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The Challenge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40080" y="2194560"/>
            <a:ext cx="8229600" cy="2560320"/>
            <a:chOff x="0" y="0"/>
            <a:chExt cx="10972800" cy="34137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7280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30" r="0" b="-1263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10972800" cy="3461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Crop stress from heat, water deficit &amp; humidity imbalance begins days before visible symptoms appear</a:t>
              </a:r>
            </a:p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India: 15–25% yield lost annually to abiotic stress — largely preventable</a:t>
              </a:r>
            </a:p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140 million farming households need affordable, predictive solutions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640080" y="4846320"/>
            <a:ext cx="8229600" cy="548640"/>
            <a:chOff x="0" y="0"/>
            <a:chExt cx="1097280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972800" cy="731520"/>
            </a:xfrm>
            <a:custGeom>
              <a:avLst/>
              <a:gdLst/>
              <a:ahLst/>
              <a:cxnLst/>
              <a:rect r="r" b="b" t="t" l="l"/>
              <a:pathLst>
                <a:path h="73152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2275" r="0" b="-242275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10972800" cy="78867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1B4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Our Solution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40080" y="5394960"/>
            <a:ext cx="8229600" cy="2560320"/>
            <a:chOff x="0" y="0"/>
            <a:chExt cx="10972800" cy="341376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972800" cy="3413760"/>
            </a:xfrm>
            <a:custGeom>
              <a:avLst/>
              <a:gdLst/>
              <a:ahLst/>
              <a:cxnLst/>
              <a:rect r="r" b="b" t="t" l="l"/>
              <a:pathLst>
                <a:path h="34137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3413760"/>
                  </a:lnTo>
                  <a:lnTo>
                    <a:pt x="0" y="341376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30" r="0" b="-1263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10972800" cy="346138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AI-powered Early Crop Stress Detection using microclimate data (temp, humidity, rainfall, soil moisture)</a:t>
              </a:r>
            </a:p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Kaggle dataset: ~2,500 records — vs. base paper's ~900 records</a:t>
              </a:r>
            </a:p>
            <a:p>
              <a:pPr algn="l" marL="530860" indent="-265430" lvl="1">
                <a:lnSpc>
                  <a:spcPts val="2640"/>
                </a:lnSpc>
                <a:buFont typeface="Arial"/>
                <a:buChar char="•"/>
              </a:pPr>
              <a:r>
                <a:rPr lang="en-US" sz="22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Random Forest model — 84% accuracy (+12% over base paper)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9509760" y="1554480"/>
            <a:ext cx="8229600" cy="8046720"/>
            <a:chOff x="0" y="0"/>
            <a:chExt cx="10972800" cy="1072896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972800" cy="10728960"/>
            </a:xfrm>
            <a:custGeom>
              <a:avLst/>
              <a:gdLst/>
              <a:ahLst/>
              <a:cxnLst/>
              <a:rect r="r" b="b" t="t" l="l"/>
              <a:pathLst>
                <a:path h="1072896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10728960"/>
                  </a:lnTo>
                  <a:lnTo>
                    <a:pt x="0" y="10728960"/>
                  </a:lnTo>
                  <a:close/>
                </a:path>
              </a:pathLst>
            </a:custGeom>
            <a:solidFill>
              <a:srgbClr val="D8F3DC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9497063" y="1541783"/>
            <a:ext cx="171707" cy="8072123"/>
            <a:chOff x="0" y="0"/>
            <a:chExt cx="228943" cy="1076283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16891" y="16891"/>
              <a:ext cx="195072" cy="10728960"/>
            </a:xfrm>
            <a:custGeom>
              <a:avLst/>
              <a:gdLst/>
              <a:ahLst/>
              <a:cxnLst/>
              <a:rect r="r" b="b" t="t" l="l"/>
              <a:pathLst>
                <a:path h="10728960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0728960"/>
                  </a:lnTo>
                  <a:lnTo>
                    <a:pt x="0" y="10728960"/>
                  </a:ln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28854" cy="10762742"/>
            </a:xfrm>
            <a:custGeom>
              <a:avLst/>
              <a:gdLst/>
              <a:ahLst/>
              <a:cxnLst/>
              <a:rect r="r" b="b" t="t" l="l"/>
              <a:pathLst>
                <a:path h="1076274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0745851"/>
                  </a:lnTo>
                  <a:cubicBezTo>
                    <a:pt x="228854" y="10755249"/>
                    <a:pt x="221234" y="10762742"/>
                    <a:pt x="211963" y="10762742"/>
                  </a:cubicBezTo>
                  <a:lnTo>
                    <a:pt x="16891" y="10762742"/>
                  </a:lnTo>
                  <a:cubicBezTo>
                    <a:pt x="7493" y="10762742"/>
                    <a:pt x="0" y="10755122"/>
                    <a:pt x="0" y="107458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745851"/>
                  </a:lnTo>
                  <a:lnTo>
                    <a:pt x="16891" y="10745851"/>
                  </a:lnTo>
                  <a:lnTo>
                    <a:pt x="16891" y="10728960"/>
                  </a:lnTo>
                  <a:lnTo>
                    <a:pt x="211963" y="10728960"/>
                  </a:lnTo>
                  <a:lnTo>
                    <a:pt x="211963" y="10745851"/>
                  </a:lnTo>
                  <a:lnTo>
                    <a:pt x="195072" y="10745851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28" id="28"/>
          <p:cNvGrpSpPr/>
          <p:nvPr/>
        </p:nvGrpSpPr>
        <p:grpSpPr>
          <a:xfrm rot="0">
            <a:off x="9875520" y="1828800"/>
            <a:ext cx="7498080" cy="585216"/>
            <a:chOff x="0" y="0"/>
            <a:chExt cx="9997440" cy="78028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9997440" cy="780288"/>
            </a:xfrm>
            <a:custGeom>
              <a:avLst/>
              <a:gdLst/>
              <a:ahLst/>
              <a:cxnLst/>
              <a:rect r="r" b="b" t="t" l="l"/>
              <a:pathLst>
                <a:path h="780288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652" r="0" b="-19965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19050"/>
              <a:ext cx="9997440" cy="7993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120"/>
                </a:lnSpc>
              </a:pPr>
              <a:r>
                <a:rPr lang="en-US" sz="2600" b="true">
                  <a:solidFill>
                    <a:srgbClr val="2D6A4F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✦  Key Novelties</a:t>
              </a: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9875520" y="2523744"/>
            <a:ext cx="7498080" cy="6583680"/>
            <a:chOff x="0" y="0"/>
            <a:chExt cx="9997440" cy="877824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9997440" cy="8778240"/>
            </a:xfrm>
            <a:custGeom>
              <a:avLst/>
              <a:gdLst/>
              <a:ahLst/>
              <a:cxnLst/>
              <a:rect r="r" b="b" t="t" l="l"/>
              <a:pathLst>
                <a:path h="8778240" w="9997440">
                  <a:moveTo>
                    <a:pt x="0" y="0"/>
                  </a:moveTo>
                  <a:lnTo>
                    <a:pt x="9997440" y="0"/>
                  </a:lnTo>
                  <a:lnTo>
                    <a:pt x="9997440" y="8778240"/>
                  </a:lnTo>
                  <a:lnTo>
                    <a:pt x="0" y="8778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62656" t="0" r="-62656" b="0"/>
              </a:stretch>
            </a:blip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47625"/>
              <a:ext cx="9997440" cy="88258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Custom Crop Stress Index (CSI) combining 3 environmental factors (0–100 scale)</a:t>
              </a:r>
            </a:p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Expanded multi-factor dataset: 2,500 records vs. base paper's 900</a:t>
              </a:r>
            </a:p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3-level stress classification: Low / Mild / High with actionable farmer recommendations</a:t>
              </a:r>
            </a:p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Predictive (24–48 hrs early warning) vs. reactive (base paper)</a:t>
              </a:r>
            </a:p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Low-cost approach — no expensive hardware required</a:t>
              </a:r>
            </a:p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 matplotlib data visualizations for comprehensive analysis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-12697" y="9899399"/>
            <a:ext cx="18313403" cy="391163"/>
            <a:chOff x="0" y="0"/>
            <a:chExt cx="24417871" cy="52155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16891" y="16891"/>
              <a:ext cx="24383999" cy="487680"/>
            </a:xfrm>
            <a:custGeom>
              <a:avLst/>
              <a:gdLst/>
              <a:ahLst/>
              <a:cxnLst/>
              <a:rect r="r" b="b" t="t" l="l"/>
              <a:pathLst>
                <a:path h="487680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487680"/>
                  </a:lnTo>
                  <a:lnTo>
                    <a:pt x="0" y="487680"/>
                  </a:ln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4417782" cy="521464"/>
            </a:xfrm>
            <a:custGeom>
              <a:avLst/>
              <a:gdLst/>
              <a:ahLst/>
              <a:cxnLst/>
              <a:rect r="r" b="b" t="t" l="l"/>
              <a:pathLst>
                <a:path h="521464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504571"/>
                  </a:lnTo>
                  <a:cubicBezTo>
                    <a:pt x="24417782" y="513969"/>
                    <a:pt x="24410163" y="521462"/>
                    <a:pt x="24400890" y="521462"/>
                  </a:cubicBezTo>
                  <a:lnTo>
                    <a:pt x="16891" y="521462"/>
                  </a:lnTo>
                  <a:cubicBezTo>
                    <a:pt x="7620" y="521589"/>
                    <a:pt x="0" y="513969"/>
                    <a:pt x="0" y="5045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504571"/>
                  </a:lnTo>
                  <a:lnTo>
                    <a:pt x="16891" y="504571"/>
                  </a:lnTo>
                  <a:lnTo>
                    <a:pt x="16891" y="487680"/>
                  </a:lnTo>
                  <a:lnTo>
                    <a:pt x="24400890" y="487680"/>
                  </a:lnTo>
                  <a:lnTo>
                    <a:pt x="24400890" y="504571"/>
                  </a:lnTo>
                  <a:lnTo>
                    <a:pt x="24384000" y="504571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71707" cy="10312403"/>
            <a:chOff x="0" y="0"/>
            <a:chExt cx="228943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19507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E9C46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85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3732890"/>
                  </a:lnTo>
                  <a:cubicBezTo>
                    <a:pt x="228854" y="13742290"/>
                    <a:pt x="221234" y="13749782"/>
                    <a:pt x="2119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11963" y="13716000"/>
                  </a:lnTo>
                  <a:lnTo>
                    <a:pt x="211963" y="13732890"/>
                  </a:lnTo>
                  <a:lnTo>
                    <a:pt x="195072" y="13732890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9C46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57200" y="256032"/>
            <a:ext cx="16459200" cy="804672"/>
            <a:chOff x="0" y="0"/>
            <a:chExt cx="21945600" cy="10728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8557" r="0" b="-34855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1945600" cy="1091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8F9F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02  |  Introduction &amp; Problem Statement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57200" y="1554480"/>
            <a:ext cx="5669280" cy="3840480"/>
            <a:chOff x="0" y="0"/>
            <a:chExt cx="7559040" cy="512064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559040" cy="5120640"/>
            </a:xfrm>
            <a:custGeom>
              <a:avLst/>
              <a:gdLst/>
              <a:ahLst/>
              <a:cxnLst/>
              <a:rect r="r" b="b" t="t" l="l"/>
              <a:pathLst>
                <a:path h="51206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D8F3DC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444503" y="1541783"/>
            <a:ext cx="5694683" cy="793499"/>
            <a:chOff x="0" y="0"/>
            <a:chExt cx="7592911" cy="105799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75590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1B4332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592822" cy="1057912"/>
            </a:xfrm>
            <a:custGeom>
              <a:avLst/>
              <a:gdLst/>
              <a:ahLst/>
              <a:cxnLst/>
              <a:rect r="r" b="b" t="t" l="l"/>
              <a:pathLst>
                <a:path h="105791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1041019"/>
                  </a:lnTo>
                  <a:cubicBezTo>
                    <a:pt x="7592822" y="1050417"/>
                    <a:pt x="7585202" y="1057910"/>
                    <a:pt x="757593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7575931" y="1024128"/>
                  </a:lnTo>
                  <a:lnTo>
                    <a:pt x="7575931" y="1041019"/>
                  </a:lnTo>
                  <a:lnTo>
                    <a:pt x="7559040" y="1041019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40080" y="1645920"/>
            <a:ext cx="5303520" cy="585216"/>
            <a:chOff x="0" y="0"/>
            <a:chExt cx="7071360" cy="7802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7071360" cy="780288"/>
            </a:xfrm>
            <a:custGeom>
              <a:avLst/>
              <a:gdLst/>
              <a:ahLst/>
              <a:cxnLst/>
              <a:rect r="r" b="b" t="t" l="l"/>
              <a:pathLst>
                <a:path h="78028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583" r="0" b="-12658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707136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9C46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🌾  Background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40080" y="2468880"/>
            <a:ext cx="5303520" cy="2926080"/>
            <a:chOff x="0" y="0"/>
            <a:chExt cx="7071360" cy="39014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071360" cy="3901440"/>
            </a:xfrm>
            <a:custGeom>
              <a:avLst/>
              <a:gdLst/>
              <a:ahLst/>
              <a:cxnLst/>
              <a:rect r="r" b="b" t="t" l="l"/>
              <a:pathLst>
                <a:path h="39014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3901440"/>
                  </a:lnTo>
                  <a:lnTo>
                    <a:pt x="0" y="3901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788" t="0" r="-20788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7071360" cy="3939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India: 140M farming households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15–25% yield lost to abiotic stress annually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Stress begins invisibly — days before visible symptoms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By visible damage, recovery is often too late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6492240" y="1554480"/>
            <a:ext cx="5669280" cy="3840480"/>
            <a:chOff x="0" y="0"/>
            <a:chExt cx="7559040" cy="512064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7559040" cy="5120640"/>
            </a:xfrm>
            <a:custGeom>
              <a:avLst/>
              <a:gdLst/>
              <a:ahLst/>
              <a:cxnLst/>
              <a:rect r="r" b="b" t="t" l="l"/>
              <a:pathLst>
                <a:path h="51206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D8F3DC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6479543" y="1541783"/>
            <a:ext cx="5694683" cy="793499"/>
            <a:chOff x="0" y="0"/>
            <a:chExt cx="7592911" cy="1057999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75590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1B4332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592822" cy="1057912"/>
            </a:xfrm>
            <a:custGeom>
              <a:avLst/>
              <a:gdLst/>
              <a:ahLst/>
              <a:cxnLst/>
              <a:rect r="r" b="b" t="t" l="l"/>
              <a:pathLst>
                <a:path h="105791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1041019"/>
                  </a:lnTo>
                  <a:cubicBezTo>
                    <a:pt x="7592822" y="1050417"/>
                    <a:pt x="7585202" y="1057910"/>
                    <a:pt x="757593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7575931" y="1024128"/>
                  </a:lnTo>
                  <a:lnTo>
                    <a:pt x="7575931" y="1041019"/>
                  </a:lnTo>
                  <a:lnTo>
                    <a:pt x="7559040" y="1041019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6675120" y="1645920"/>
            <a:ext cx="5303520" cy="585216"/>
            <a:chOff x="0" y="0"/>
            <a:chExt cx="7071360" cy="78028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071360" cy="780288"/>
            </a:xfrm>
            <a:custGeom>
              <a:avLst/>
              <a:gdLst/>
              <a:ahLst/>
              <a:cxnLst/>
              <a:rect r="r" b="b" t="t" l="l"/>
              <a:pathLst>
                <a:path h="78028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583" r="0" b="-12658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707136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9C46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⚠️  Problem Statement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6675120" y="2468880"/>
            <a:ext cx="5303520" cy="2926080"/>
            <a:chOff x="0" y="0"/>
            <a:chExt cx="7071360" cy="39014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7071360" cy="3901440"/>
            </a:xfrm>
            <a:custGeom>
              <a:avLst/>
              <a:gdLst/>
              <a:ahLst/>
              <a:cxnLst/>
              <a:rect r="r" b="b" t="t" l="l"/>
              <a:pathLst>
                <a:path h="39014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3901440"/>
                  </a:lnTo>
                  <a:lnTo>
                    <a:pt x="0" y="3901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788" t="0" r="-20788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7071360" cy="3939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Crop monitoring is largely reactive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affordable, early-warning system exists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Satellite/hyperspectral tech unaffordable for small farmers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Need: predict stress 24–48 hrs in advance using basic data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2527280" y="1554480"/>
            <a:ext cx="5669280" cy="3840480"/>
            <a:chOff x="0" y="0"/>
            <a:chExt cx="7559040" cy="512064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7559040" cy="5120640"/>
            </a:xfrm>
            <a:custGeom>
              <a:avLst/>
              <a:gdLst/>
              <a:ahLst/>
              <a:cxnLst/>
              <a:rect r="r" b="b" t="t" l="l"/>
              <a:pathLst>
                <a:path h="5120640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5120640"/>
                  </a:lnTo>
                  <a:lnTo>
                    <a:pt x="0" y="5120640"/>
                  </a:lnTo>
                  <a:close/>
                </a:path>
              </a:pathLst>
            </a:custGeom>
            <a:solidFill>
              <a:srgbClr val="D8F3DC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2514583" y="1541783"/>
            <a:ext cx="5694683" cy="793499"/>
            <a:chOff x="0" y="0"/>
            <a:chExt cx="7592911" cy="1057999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7559040" cy="1024128"/>
            </a:xfrm>
            <a:custGeom>
              <a:avLst/>
              <a:gdLst/>
              <a:ahLst/>
              <a:cxnLst/>
              <a:rect r="r" b="b" t="t" l="l"/>
              <a:pathLst>
                <a:path h="1024128" w="7559040">
                  <a:moveTo>
                    <a:pt x="0" y="0"/>
                  </a:moveTo>
                  <a:lnTo>
                    <a:pt x="7559040" y="0"/>
                  </a:lnTo>
                  <a:lnTo>
                    <a:pt x="7559040" y="1024128"/>
                  </a:lnTo>
                  <a:lnTo>
                    <a:pt x="0" y="1024128"/>
                  </a:lnTo>
                  <a:close/>
                </a:path>
              </a:pathLst>
            </a:custGeom>
            <a:solidFill>
              <a:srgbClr val="1B4332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7592822" cy="1057912"/>
            </a:xfrm>
            <a:custGeom>
              <a:avLst/>
              <a:gdLst/>
              <a:ahLst/>
              <a:cxnLst/>
              <a:rect r="r" b="b" t="t" l="l"/>
              <a:pathLst>
                <a:path h="1057912" w="7592822">
                  <a:moveTo>
                    <a:pt x="16891" y="0"/>
                  </a:moveTo>
                  <a:lnTo>
                    <a:pt x="7575931" y="0"/>
                  </a:lnTo>
                  <a:cubicBezTo>
                    <a:pt x="7585329" y="0"/>
                    <a:pt x="7592822" y="7620"/>
                    <a:pt x="7592822" y="16891"/>
                  </a:cubicBezTo>
                  <a:lnTo>
                    <a:pt x="7592822" y="1041019"/>
                  </a:lnTo>
                  <a:cubicBezTo>
                    <a:pt x="7592822" y="1050417"/>
                    <a:pt x="7585202" y="1057910"/>
                    <a:pt x="7575931" y="1057910"/>
                  </a:cubicBezTo>
                  <a:lnTo>
                    <a:pt x="16891" y="1057910"/>
                  </a:lnTo>
                  <a:cubicBezTo>
                    <a:pt x="7620" y="1058037"/>
                    <a:pt x="0" y="1050417"/>
                    <a:pt x="0" y="104101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041019"/>
                  </a:lnTo>
                  <a:lnTo>
                    <a:pt x="16891" y="1041019"/>
                  </a:lnTo>
                  <a:lnTo>
                    <a:pt x="16891" y="1024128"/>
                  </a:lnTo>
                  <a:lnTo>
                    <a:pt x="7575931" y="1024128"/>
                  </a:lnTo>
                  <a:lnTo>
                    <a:pt x="7575931" y="1041019"/>
                  </a:lnTo>
                  <a:lnTo>
                    <a:pt x="7559040" y="1041019"/>
                  </a:lnTo>
                  <a:lnTo>
                    <a:pt x="7559040" y="16891"/>
                  </a:lnTo>
                  <a:lnTo>
                    <a:pt x="7575931" y="16891"/>
                  </a:lnTo>
                  <a:lnTo>
                    <a:pt x="75759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2710160" y="1645920"/>
            <a:ext cx="5303520" cy="585216"/>
            <a:chOff x="0" y="0"/>
            <a:chExt cx="7071360" cy="780288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071360" cy="780288"/>
            </a:xfrm>
            <a:custGeom>
              <a:avLst/>
              <a:gdLst/>
              <a:ahLst/>
              <a:cxnLst/>
              <a:rect r="r" b="b" t="t" l="l"/>
              <a:pathLst>
                <a:path h="780288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780288"/>
                  </a:lnTo>
                  <a:lnTo>
                    <a:pt x="0" y="780288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26583" r="0" b="-126583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7071360" cy="8279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9C46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🎯  Objectives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710160" y="2468880"/>
            <a:ext cx="5303520" cy="2926080"/>
            <a:chOff x="0" y="0"/>
            <a:chExt cx="7071360" cy="39014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071360" cy="3901440"/>
            </a:xfrm>
            <a:custGeom>
              <a:avLst/>
              <a:gdLst/>
              <a:ahLst/>
              <a:cxnLst/>
              <a:rect r="r" b="b" t="t" l="l"/>
              <a:pathLst>
                <a:path h="3901440" w="7071360">
                  <a:moveTo>
                    <a:pt x="0" y="0"/>
                  </a:moveTo>
                  <a:lnTo>
                    <a:pt x="7071360" y="0"/>
                  </a:lnTo>
                  <a:lnTo>
                    <a:pt x="7071360" y="3901440"/>
                  </a:lnTo>
                  <a:lnTo>
                    <a:pt x="0" y="3901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20788" t="0" r="-20788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7071360" cy="3939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Identify key env. parameters affecting crop health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Apply ML to classify Low / Mild / High stress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Compare Linear Reg, Decision Tree, Random Forest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Develop novel Crop Stress Index (0–100)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444503" y="5748023"/>
            <a:ext cx="17399003" cy="610619"/>
            <a:chOff x="0" y="0"/>
            <a:chExt cx="23198671" cy="81415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16891" y="16891"/>
              <a:ext cx="23164799" cy="780288"/>
            </a:xfrm>
            <a:custGeom>
              <a:avLst/>
              <a:gdLst/>
              <a:ahLst/>
              <a:cxnLst/>
              <a:rect r="r" b="b" t="t" l="l"/>
              <a:pathLst>
                <a:path h="780288" w="23164799">
                  <a:moveTo>
                    <a:pt x="0" y="0"/>
                  </a:moveTo>
                  <a:lnTo>
                    <a:pt x="23164799" y="0"/>
                  </a:lnTo>
                  <a:lnTo>
                    <a:pt x="23164799" y="780288"/>
                  </a:lnTo>
                  <a:lnTo>
                    <a:pt x="0" y="780288"/>
                  </a:lnTo>
                  <a:close/>
                </a:path>
              </a:pathLst>
            </a:custGeom>
            <a:solidFill>
              <a:srgbClr val="1B4332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23198582" cy="814072"/>
            </a:xfrm>
            <a:custGeom>
              <a:avLst/>
              <a:gdLst/>
              <a:ahLst/>
              <a:cxnLst/>
              <a:rect r="r" b="b" t="t" l="l"/>
              <a:pathLst>
                <a:path h="814072" w="23198582">
                  <a:moveTo>
                    <a:pt x="16891" y="0"/>
                  </a:moveTo>
                  <a:lnTo>
                    <a:pt x="23181690" y="0"/>
                  </a:lnTo>
                  <a:cubicBezTo>
                    <a:pt x="23191090" y="0"/>
                    <a:pt x="23198582" y="7620"/>
                    <a:pt x="23198582" y="16891"/>
                  </a:cubicBezTo>
                  <a:lnTo>
                    <a:pt x="23198582" y="797179"/>
                  </a:lnTo>
                  <a:cubicBezTo>
                    <a:pt x="23198582" y="806577"/>
                    <a:pt x="23190963" y="814070"/>
                    <a:pt x="23181690" y="814070"/>
                  </a:cubicBezTo>
                  <a:lnTo>
                    <a:pt x="16891" y="814070"/>
                  </a:lnTo>
                  <a:cubicBezTo>
                    <a:pt x="7620" y="814197"/>
                    <a:pt x="0" y="806577"/>
                    <a:pt x="0" y="79717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797179"/>
                  </a:lnTo>
                  <a:lnTo>
                    <a:pt x="16891" y="797179"/>
                  </a:lnTo>
                  <a:lnTo>
                    <a:pt x="16891" y="780288"/>
                  </a:lnTo>
                  <a:lnTo>
                    <a:pt x="23181690" y="780288"/>
                  </a:lnTo>
                  <a:lnTo>
                    <a:pt x="23181690" y="797179"/>
                  </a:lnTo>
                  <a:lnTo>
                    <a:pt x="23164800" y="797179"/>
                  </a:lnTo>
                  <a:lnTo>
                    <a:pt x="23164800" y="16891"/>
                  </a:lnTo>
                  <a:lnTo>
                    <a:pt x="23181690" y="16891"/>
                  </a:lnTo>
                  <a:lnTo>
                    <a:pt x="231816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7" id="47"/>
          <p:cNvGrpSpPr/>
          <p:nvPr/>
        </p:nvGrpSpPr>
        <p:grpSpPr>
          <a:xfrm rot="0">
            <a:off x="640080" y="5815584"/>
            <a:ext cx="7315200" cy="457200"/>
            <a:chOff x="0" y="0"/>
            <a:chExt cx="9753600" cy="6096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9753600" cy="609600"/>
            </a:xfrm>
            <a:custGeom>
              <a:avLst/>
              <a:gdLst/>
              <a:ahLst/>
              <a:cxnLst/>
              <a:rect r="r" b="b" t="t" l="l"/>
              <a:pathLst>
                <a:path h="609600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1760" r="0" b="-261760"/>
              </a:stretch>
            </a:blipFill>
          </p:spPr>
        </p:sp>
        <p:sp>
          <p:nvSpPr>
            <p:cNvPr name="TextBox 49" id="49"/>
            <p:cNvSpPr txBox="true"/>
            <p:nvPr/>
          </p:nvSpPr>
          <p:spPr>
            <a:xfrm>
              <a:off x="0" y="-47625"/>
              <a:ext cx="9753600" cy="657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9C46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Real-World Relevance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640080" y="6400800"/>
            <a:ext cx="17007840" cy="640080"/>
            <a:chOff x="0" y="0"/>
            <a:chExt cx="22677120" cy="85344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22677120" cy="853440"/>
            </a:xfrm>
            <a:custGeom>
              <a:avLst/>
              <a:gdLst/>
              <a:ahLst/>
              <a:cxnLst/>
              <a:rect r="r" b="b" t="t" l="l"/>
              <a:pathLst>
                <a:path h="85344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7745" r="0" b="-467745"/>
              </a:stretch>
            </a:blipFill>
          </p:spPr>
        </p:sp>
        <p:sp>
          <p:nvSpPr>
            <p:cNvPr name="TextBox 52" id="52"/>
            <p:cNvSpPr txBox="true"/>
            <p:nvPr/>
          </p:nvSpPr>
          <p:spPr>
            <a:xfrm>
              <a:off x="0" y="-38100"/>
              <a:ext cx="2267712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B2B1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Microsoft FarmBeats  </a:t>
              </a:r>
              <a:r>
                <a:rPr lang="en-US" sz="20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IoT + ML stress detection  •  </a:t>
              </a:r>
              <a:r>
                <a:rPr lang="en-US" sz="2000" b="true">
                  <a:solidFill>
                    <a:srgbClr val="1B2B1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ICAR  </a:t>
              </a:r>
              <a:r>
                <a:rPr lang="en-US" sz="20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crop health studies  •  </a:t>
              </a:r>
              <a:r>
                <a:rPr lang="en-US" sz="2000" b="true">
                  <a:solidFill>
                    <a:srgbClr val="1B2B1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Cropin Tech  </a:t>
              </a:r>
              <a:r>
                <a:rPr lang="en-US" sz="20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7M+ farmers  •  </a:t>
              </a:r>
              <a:r>
                <a:rPr lang="en-US" sz="2000" b="true">
                  <a:solidFill>
                    <a:srgbClr val="1B2B1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Govt. Digital Agriculture Mission</a:t>
              </a:r>
            </a:p>
          </p:txBody>
        </p:sp>
      </p:grpSp>
      <p:grpSp>
        <p:nvGrpSpPr>
          <p:cNvPr name="Group 53" id="53"/>
          <p:cNvGrpSpPr/>
          <p:nvPr/>
        </p:nvGrpSpPr>
        <p:grpSpPr>
          <a:xfrm rot="0">
            <a:off x="457200" y="7355205"/>
            <a:ext cx="17007840" cy="640080"/>
            <a:chOff x="0" y="0"/>
            <a:chExt cx="22677120" cy="853440"/>
          </a:xfrm>
        </p:grpSpPr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22677120" cy="853440"/>
            </a:xfrm>
            <a:custGeom>
              <a:avLst/>
              <a:gdLst/>
              <a:ahLst/>
              <a:cxnLst/>
              <a:rect r="r" b="b" t="t" l="l"/>
              <a:pathLst>
                <a:path h="853440" w="22677120">
                  <a:moveTo>
                    <a:pt x="0" y="0"/>
                  </a:moveTo>
                  <a:lnTo>
                    <a:pt x="22677120" y="0"/>
                  </a:lnTo>
                  <a:lnTo>
                    <a:pt x="226771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67745" r="0" b="-467745"/>
              </a:stretch>
            </a:blipFill>
          </p:spPr>
        </p:sp>
        <p:sp>
          <p:nvSpPr>
            <p:cNvPr name="TextBox 55" id="55"/>
            <p:cNvSpPr txBox="true"/>
            <p:nvPr/>
          </p:nvSpPr>
          <p:spPr>
            <a:xfrm>
              <a:off x="0" y="-47625"/>
              <a:ext cx="2267712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2D6A4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💧  Sustainability: Early detection can reduce water waste by up to 30% and lower agricultural carbon footprint.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B433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71707" cy="10312403"/>
            <a:chOff x="0" y="0"/>
            <a:chExt cx="228943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19507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E9C46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85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3732890"/>
                  </a:lnTo>
                  <a:cubicBezTo>
                    <a:pt x="228854" y="13742290"/>
                    <a:pt x="221234" y="13749782"/>
                    <a:pt x="2119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11963" y="13716000"/>
                  </a:lnTo>
                  <a:lnTo>
                    <a:pt x="211963" y="13732890"/>
                  </a:lnTo>
                  <a:lnTo>
                    <a:pt x="195072" y="13732890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9C46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57200" y="256032"/>
            <a:ext cx="16459200" cy="804672"/>
            <a:chOff x="0" y="0"/>
            <a:chExt cx="21945600" cy="10728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8557" r="0" b="-34855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1945600" cy="1082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 b="true">
                  <a:solidFill>
                    <a:srgbClr val="F8F9F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03  |  Importance of Early Crop Stress Detection</a:t>
              </a:r>
            </a:p>
          </p:txBody>
        </p:sp>
      </p:grp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457200" y="1554480"/>
          <a:ext cx="17373600" cy="6400800"/>
        </p:xfrm>
        <a:graphic>
          <a:graphicData uri="http://schemas.openxmlformats.org/drawingml/2006/table">
            <a:tbl>
              <a:tblPr/>
              <a:tblGrid>
                <a:gridCol w="4589969"/>
                <a:gridCol w="12783631"/>
              </a:tblGrid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8F9F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Benefit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8F9F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Explanation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Early Detection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Identifies stress before visible damage — allows timely intervention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Resource Optimization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Reduces unnecessary water &amp; fertilizer use by targeting stressed areas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Reduced Yield Loss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Maintains crop health and productivity through preventive action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Climate Adaptation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Helps farmers manage increasing weather variability due to climate change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Economic Benefit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Reduces input costs and increases farm profitability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Smart Farming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Enables data-driven, AI-assisted agricultural decision making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</a:tbl>
          </a:graphicData>
        </a:graphic>
      </p:graphicFrame>
      <p:grpSp>
        <p:nvGrpSpPr>
          <p:cNvPr name="Group 12" id="12"/>
          <p:cNvGrpSpPr/>
          <p:nvPr/>
        </p:nvGrpSpPr>
        <p:grpSpPr>
          <a:xfrm rot="0">
            <a:off x="914400" y="8229600"/>
            <a:ext cx="16459200" cy="822960"/>
            <a:chOff x="0" y="0"/>
            <a:chExt cx="21945600" cy="109728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0"/>
              <a:ext cx="21945600" cy="10972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9"/>
                </a:lnSpc>
              </a:pPr>
              <a:r>
                <a:rPr lang="en-US" b="true" sz="2400" i="true">
                  <a:solidFill>
                    <a:srgbClr val="2D6A4F"/>
                  </a:solidFill>
                  <a:latin typeface="Georgia Bold Italics"/>
                  <a:ea typeface="Georgia Bold Italics"/>
                  <a:cs typeface="Georgia Bold Italics"/>
                  <a:sym typeface="Georgia Bold Italics"/>
                </a:rPr>
                <a:t>"It helps farmers act early, save resources, and improve yield using smart technology."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71707" cy="10312403"/>
            <a:chOff x="0" y="0"/>
            <a:chExt cx="228943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19507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E9C46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85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3732890"/>
                  </a:lnTo>
                  <a:cubicBezTo>
                    <a:pt x="228854" y="13742290"/>
                    <a:pt x="221234" y="13749782"/>
                    <a:pt x="2119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11963" y="13716000"/>
                  </a:lnTo>
                  <a:lnTo>
                    <a:pt x="211963" y="13732890"/>
                  </a:lnTo>
                  <a:lnTo>
                    <a:pt x="195072" y="13732890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9C46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57200" y="256032"/>
            <a:ext cx="16459200" cy="804672"/>
            <a:chOff x="0" y="0"/>
            <a:chExt cx="21945600" cy="10728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8557" r="0" b="-34855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1945600" cy="1082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5040"/>
                </a:lnSpc>
              </a:pPr>
              <a:r>
                <a:rPr lang="en-US" sz="4200" b="true">
                  <a:solidFill>
                    <a:srgbClr val="F8F9F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04  |  Review of Literature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57200" y="1554480"/>
            <a:ext cx="8412480" cy="4206240"/>
            <a:chOff x="0" y="0"/>
            <a:chExt cx="11216640" cy="56083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216640" cy="5608320"/>
            </a:xfrm>
            <a:custGeom>
              <a:avLst/>
              <a:gdLst/>
              <a:ahLst/>
              <a:cxnLst/>
              <a:rect r="r" b="b" t="t" l="l"/>
              <a:pathLst>
                <a:path h="560832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5608320"/>
                  </a:lnTo>
                  <a:lnTo>
                    <a:pt x="0" y="5608320"/>
                  </a:lnTo>
                  <a:close/>
                </a:path>
              </a:pathLst>
            </a:custGeom>
            <a:solidFill>
              <a:srgbClr val="D8F3DC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444503" y="1541783"/>
            <a:ext cx="8437883" cy="720347"/>
            <a:chOff x="0" y="0"/>
            <a:chExt cx="11250511" cy="96046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11216640" cy="926592"/>
            </a:xfrm>
            <a:custGeom>
              <a:avLst/>
              <a:gdLst/>
              <a:ahLst/>
              <a:cxnLst/>
              <a:rect r="r" b="b" t="t" l="l"/>
              <a:pathLst>
                <a:path h="92659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1B4332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250422" cy="960376"/>
            </a:xfrm>
            <a:custGeom>
              <a:avLst/>
              <a:gdLst/>
              <a:ahLst/>
              <a:cxnLst/>
              <a:rect r="r" b="b" t="t" l="l"/>
              <a:pathLst>
                <a:path h="960376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943483"/>
                  </a:lnTo>
                  <a:cubicBezTo>
                    <a:pt x="11250422" y="952881"/>
                    <a:pt x="11242802" y="960374"/>
                    <a:pt x="1123353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11233531" y="926592"/>
                  </a:lnTo>
                  <a:lnTo>
                    <a:pt x="11233531" y="943483"/>
                  </a:lnTo>
                  <a:lnTo>
                    <a:pt x="11216640" y="943483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694944" y="1609344"/>
            <a:ext cx="7955280" cy="548640"/>
            <a:chOff x="0" y="0"/>
            <a:chExt cx="10607040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9C46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📄  Base Research Paper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94944" y="2340864"/>
            <a:ext cx="7955280" cy="3200400"/>
            <a:chOff x="0" y="0"/>
            <a:chExt cx="10607040" cy="4267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607040" cy="4267200"/>
            </a:xfrm>
            <a:custGeom>
              <a:avLst/>
              <a:gdLst/>
              <a:ahLst/>
              <a:cxnLst/>
              <a:rect r="r" b="b" t="t" l="l"/>
              <a:pathLst>
                <a:path h="426720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4267200"/>
                  </a:lnTo>
                  <a:lnTo>
                    <a:pt x="0" y="426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16" t="0" r="-1616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0607040" cy="430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B2B1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TITLE : “On the use of statistical model to predict crop yield responses to climate changes”</a:t>
              </a:r>
            </a:p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B2B1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Lobell &amp; Burke (2010) — Agricultural &amp; Forest Meteorology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Dataset: ~900 records | FAO STAT / World Bank Climate Portal</a:t>
              </a:r>
            </a:p>
            <a:p>
              <a:pPr algn="l">
                <a:lnSpc>
                  <a:spcPts val="2400"/>
                </a:lnSpc>
              </a:pPr>
              <a:r>
                <a:rPr lang="en-US" sz="20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Models: Linear Regression, Basic ANN</a:t>
              </a:r>
            </a:p>
            <a:p>
              <a:pPr algn="l">
                <a:lnSpc>
                  <a:spcPts val="2400"/>
                </a:lnSpc>
              </a:pPr>
              <a:r>
                <a:rPr lang="en-US" sz="2000" b="true">
                  <a:solidFill>
                    <a:srgbClr val="1B2B1B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Best Accuracy: ~72–80%.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418320" y="1554480"/>
            <a:ext cx="8412480" cy="4206240"/>
            <a:chOff x="0" y="0"/>
            <a:chExt cx="11216640" cy="56083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1216640" cy="5608320"/>
            </a:xfrm>
            <a:custGeom>
              <a:avLst/>
              <a:gdLst/>
              <a:ahLst/>
              <a:cxnLst/>
              <a:rect r="r" b="b" t="t" l="l"/>
              <a:pathLst>
                <a:path h="5608320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5608320"/>
                  </a:lnTo>
                  <a:lnTo>
                    <a:pt x="0" y="5608320"/>
                  </a:lnTo>
                  <a:close/>
                </a:path>
              </a:pathLst>
            </a:custGeom>
            <a:solidFill>
              <a:srgbClr val="FFF3E0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9405623" y="1541783"/>
            <a:ext cx="8437883" cy="720347"/>
            <a:chOff x="0" y="0"/>
            <a:chExt cx="11250511" cy="96046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11216640" cy="926592"/>
            </a:xfrm>
            <a:custGeom>
              <a:avLst/>
              <a:gdLst/>
              <a:ahLst/>
              <a:cxnLst/>
              <a:rect r="r" b="b" t="t" l="l"/>
              <a:pathLst>
                <a:path h="926592" w="11216640">
                  <a:moveTo>
                    <a:pt x="0" y="0"/>
                  </a:moveTo>
                  <a:lnTo>
                    <a:pt x="11216640" y="0"/>
                  </a:lnTo>
                  <a:lnTo>
                    <a:pt x="11216640" y="926592"/>
                  </a:lnTo>
                  <a:lnTo>
                    <a:pt x="0" y="926592"/>
                  </a:lnTo>
                  <a:close/>
                </a:path>
              </a:pathLst>
            </a:custGeom>
            <a:solidFill>
              <a:srgbClr val="F4A261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1250422" cy="960376"/>
            </a:xfrm>
            <a:custGeom>
              <a:avLst/>
              <a:gdLst/>
              <a:ahLst/>
              <a:cxnLst/>
              <a:rect r="r" b="b" t="t" l="l"/>
              <a:pathLst>
                <a:path h="960376" w="11250422">
                  <a:moveTo>
                    <a:pt x="16891" y="0"/>
                  </a:moveTo>
                  <a:lnTo>
                    <a:pt x="11233531" y="0"/>
                  </a:lnTo>
                  <a:cubicBezTo>
                    <a:pt x="11242929" y="0"/>
                    <a:pt x="11250422" y="7620"/>
                    <a:pt x="11250422" y="16891"/>
                  </a:cubicBezTo>
                  <a:lnTo>
                    <a:pt x="11250422" y="943483"/>
                  </a:lnTo>
                  <a:cubicBezTo>
                    <a:pt x="11250422" y="952881"/>
                    <a:pt x="11242802" y="960374"/>
                    <a:pt x="11233531" y="960374"/>
                  </a:cubicBezTo>
                  <a:lnTo>
                    <a:pt x="16891" y="960374"/>
                  </a:lnTo>
                  <a:cubicBezTo>
                    <a:pt x="7620" y="960501"/>
                    <a:pt x="0" y="952881"/>
                    <a:pt x="0" y="94348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43483"/>
                  </a:lnTo>
                  <a:lnTo>
                    <a:pt x="16891" y="943483"/>
                  </a:lnTo>
                  <a:lnTo>
                    <a:pt x="16891" y="926592"/>
                  </a:lnTo>
                  <a:lnTo>
                    <a:pt x="11233531" y="926592"/>
                  </a:lnTo>
                  <a:lnTo>
                    <a:pt x="11233531" y="943483"/>
                  </a:lnTo>
                  <a:lnTo>
                    <a:pt x="11216640" y="943483"/>
                  </a:lnTo>
                  <a:lnTo>
                    <a:pt x="11216640" y="16891"/>
                  </a:lnTo>
                  <a:lnTo>
                    <a:pt x="11233531" y="16891"/>
                  </a:lnTo>
                  <a:lnTo>
                    <a:pt x="1123353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F4A261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9656064" y="1609344"/>
            <a:ext cx="7955280" cy="548640"/>
            <a:chOff x="0" y="0"/>
            <a:chExt cx="10607040" cy="7315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607040" cy="731520"/>
            </a:xfrm>
            <a:custGeom>
              <a:avLst/>
              <a:gdLst/>
              <a:ahLst/>
              <a:cxnLst/>
              <a:rect r="r" b="b" t="t" l="l"/>
              <a:pathLst>
                <a:path h="73152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2533" r="0" b="-232533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1060704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B4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⚠️  Limitations of Base Paper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9656064" y="2340864"/>
            <a:ext cx="7955280" cy="3200400"/>
            <a:chOff x="0" y="0"/>
            <a:chExt cx="10607040" cy="426720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607040" cy="4267200"/>
            </a:xfrm>
            <a:custGeom>
              <a:avLst/>
              <a:gdLst/>
              <a:ahLst/>
              <a:cxnLst/>
              <a:rect r="r" b="b" t="t" l="l"/>
              <a:pathLst>
                <a:path h="4267200" w="10607040">
                  <a:moveTo>
                    <a:pt x="0" y="0"/>
                  </a:moveTo>
                  <a:lnTo>
                    <a:pt x="10607040" y="0"/>
                  </a:lnTo>
                  <a:lnTo>
                    <a:pt x="10607040" y="4267200"/>
                  </a:lnTo>
                  <a:lnTo>
                    <a:pt x="0" y="42672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616" t="0" r="-1616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10607040" cy="43053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Only temp + rainfall — no soil moisture or humidity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Small dataset (~900) — limited generalization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stress classification (Low/Mild/High)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Yield prediction only — not predictive stress detection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actionable farmer recommendations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57200" y="5998464"/>
            <a:ext cx="9144000" cy="548640"/>
            <a:chOff x="0" y="0"/>
            <a:chExt cx="12192000" cy="731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192000" cy="731520"/>
            </a:xfrm>
            <a:custGeom>
              <a:avLst/>
              <a:gdLst/>
              <a:ahLst/>
              <a:cxnLst/>
              <a:rect r="r" b="b" t="t" l="l"/>
              <a:pathLst>
                <a:path h="731520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4750" r="0" b="-274750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38100"/>
              <a:ext cx="12192000" cy="7696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B4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Supporting Literature</a:t>
              </a:r>
            </a:p>
          </p:txBody>
        </p:sp>
      </p:grpSp>
      <p:graphicFrame>
        <p:nvGraphicFramePr>
          <p:cNvPr name="Table 36" id="36"/>
          <p:cNvGraphicFramePr>
            <a:graphicFrameLocks noGrp="true"/>
          </p:cNvGraphicFramePr>
          <p:nvPr/>
        </p:nvGraphicFramePr>
        <p:xfrm>
          <a:off x="457200" y="6620256"/>
          <a:ext cx="17348200" cy="3048000"/>
        </p:xfrm>
        <a:graphic>
          <a:graphicData uri="http://schemas.openxmlformats.org/drawingml/2006/table">
            <a:tbl>
              <a:tblPr/>
              <a:tblGrid>
                <a:gridCol w="5843206"/>
                <a:gridCol w="7838816"/>
                <a:gridCol w="3666177"/>
              </a:tblGrid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8F9F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Author &amp; Year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8F9F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Focus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8F9F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Method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Kamilaris &amp; Prenafeta-Boldu (2018)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Deep Learning for crop disease detection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CNN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Pantazi et al. (2016)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Soil-based crop yield prediction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SVM, ANN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Crane-Droesch (2018)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Climate impact on maize yield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Random Forest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Sehgal et al. (2020)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IoT + ML for precision irrigation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Decision Tree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B433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71707" cy="10312403"/>
            <a:chOff x="0" y="0"/>
            <a:chExt cx="228943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19507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E9C46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85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3732890"/>
                  </a:lnTo>
                  <a:cubicBezTo>
                    <a:pt x="228854" y="13742290"/>
                    <a:pt x="221234" y="13749782"/>
                    <a:pt x="2119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11963" y="13716000"/>
                  </a:lnTo>
                  <a:lnTo>
                    <a:pt x="211963" y="13732890"/>
                  </a:lnTo>
                  <a:lnTo>
                    <a:pt x="195072" y="13732890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9C46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57200" y="256032"/>
            <a:ext cx="16459200" cy="804672"/>
            <a:chOff x="0" y="0"/>
            <a:chExt cx="21945600" cy="10728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8557" r="0" b="-34855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1945600" cy="1082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F8F9F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05  |  Dataset Comparison: Base Paper vs. Proposed Study</a:t>
              </a:r>
            </a:p>
          </p:txBody>
        </p:sp>
      </p:grp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457200" y="1554480"/>
          <a:ext cx="17348200" cy="7315200"/>
        </p:xfrm>
        <a:graphic>
          <a:graphicData uri="http://schemas.openxmlformats.org/drawingml/2006/table">
            <a:tbl>
              <a:tblPr/>
              <a:tblGrid>
                <a:gridCol w="4573273"/>
                <a:gridCol w="6024625"/>
                <a:gridCol w="6750302"/>
              </a:tblGrid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8F9F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Parameter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8F9F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Base Paper Dataset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8F9F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Proposed Study Dataset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Source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FAO STAT / World Bank Climate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Kaggle Crop Recommendation + IMD Weather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Size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~900 records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~2,500 records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Features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Temperature, Rainfall only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Temp + Humidity + Rainfall + Soil Moisture + Crop Type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Target Variable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Crop Yield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Crop Stress Index + Stress Level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Stress Classification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None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Low / Mild / High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Visualization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None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15 matplotlib charts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9144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Detection Type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Reactive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Predictive (24–48 hrs before visible damage)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71707" cy="10312403"/>
            <a:chOff x="0" y="0"/>
            <a:chExt cx="228943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19507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E9C46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85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3732890"/>
                  </a:lnTo>
                  <a:cubicBezTo>
                    <a:pt x="228854" y="13742290"/>
                    <a:pt x="221234" y="13749782"/>
                    <a:pt x="2119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11963" y="13716000"/>
                  </a:lnTo>
                  <a:lnTo>
                    <a:pt x="211963" y="13732890"/>
                  </a:lnTo>
                  <a:lnTo>
                    <a:pt x="195072" y="13732890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9C46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57200" y="256032"/>
            <a:ext cx="16459200" cy="804672"/>
            <a:chOff x="0" y="0"/>
            <a:chExt cx="21945600" cy="10728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8557" r="0" b="-34855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1945600" cy="10728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400" b="true">
                  <a:solidFill>
                    <a:srgbClr val="F8F9F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06  |  Dataset Sample Records &amp; Crop Stress Index Formula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57200" y="1499616"/>
            <a:ext cx="9144000" cy="512064"/>
            <a:chOff x="0" y="0"/>
            <a:chExt cx="12192000" cy="6827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2192000" cy="682752"/>
            </a:xfrm>
            <a:custGeom>
              <a:avLst/>
              <a:gdLst/>
              <a:ahLst/>
              <a:cxnLst/>
              <a:rect r="r" b="b" t="t" l="l"/>
              <a:pathLst>
                <a:path h="682752" w="12192000">
                  <a:moveTo>
                    <a:pt x="0" y="0"/>
                  </a:moveTo>
                  <a:lnTo>
                    <a:pt x="12192000" y="0"/>
                  </a:lnTo>
                  <a:lnTo>
                    <a:pt x="121920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97947" r="0" b="-297947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21920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B4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Sample Records — Proposed Study</a:t>
              </a:r>
            </a:p>
          </p:txBody>
        </p:sp>
      </p:grp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457200" y="2048256"/>
          <a:ext cx="17348200" cy="3911600"/>
        </p:xfrm>
        <a:graphic>
          <a:graphicData uri="http://schemas.openxmlformats.org/drawingml/2006/table">
            <a:tbl>
              <a:tblPr/>
              <a:tblGrid>
                <a:gridCol w="2741166"/>
                <a:gridCol w="2921407"/>
                <a:gridCol w="2921407"/>
                <a:gridCol w="2921407"/>
                <a:gridCol w="2921407"/>
                <a:gridCol w="2921407"/>
              </a:tblGrid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8F9F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Temp (°C)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8F9F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Humidity (%)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8F9F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Rainfall (mm)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8F9F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Soil Moist (%)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8F9F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Crop Type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8F9F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CSI Score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38.5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Rice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E76F5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74 — HIGH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22.1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85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Wheat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2E7D32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18 — LOW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42.0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Maize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E76F5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91 — HIGH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28.4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50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Cotton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4A26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35 — MILD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31.2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Sugarcane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F4A26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48 — MILD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558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19.5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75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110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68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Wheat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400"/>
                        </a:lnSpc>
                        <a:defRPr/>
                      </a:pPr>
                      <a:r>
                        <a:rPr lang="en-US" sz="2000" b="true">
                          <a:solidFill>
                            <a:srgbClr val="2E7D32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12 — LOW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</a:tbl>
          </a:graphicData>
        </a:graphic>
      </p:graphicFrame>
      <p:grpSp>
        <p:nvGrpSpPr>
          <p:cNvPr name="Group 15" id="15"/>
          <p:cNvGrpSpPr/>
          <p:nvPr/>
        </p:nvGrpSpPr>
        <p:grpSpPr>
          <a:xfrm rot="0">
            <a:off x="457200" y="6254496"/>
            <a:ext cx="17373600" cy="3383280"/>
            <a:chOff x="0" y="0"/>
            <a:chExt cx="23164800" cy="451104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3164800" cy="4511040"/>
            </a:xfrm>
            <a:custGeom>
              <a:avLst/>
              <a:gdLst/>
              <a:ahLst/>
              <a:cxnLst/>
              <a:rect r="r" b="b" t="t" l="l"/>
              <a:pathLst>
                <a:path h="451104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4511040"/>
                  </a:lnTo>
                  <a:lnTo>
                    <a:pt x="0" y="4511040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731520" y="6437376"/>
            <a:ext cx="16459200" cy="548640"/>
            <a:chOff x="0" y="0"/>
            <a:chExt cx="2194560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1945600" cy="731520"/>
            </a:xfrm>
            <a:custGeom>
              <a:avLst/>
              <a:gdLst/>
              <a:ahLst/>
              <a:cxnLst/>
              <a:rect r="r" b="b" t="t" l="l"/>
              <a:pathLst>
                <a:path h="73152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4551" r="0" b="-534551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21945600" cy="7315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E9C46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🔬  Novel Contribution — Crop Stress Index (CSI) Formula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14400" y="7077456"/>
            <a:ext cx="16459200" cy="694944"/>
            <a:chOff x="0" y="0"/>
            <a:chExt cx="21945600" cy="926592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945600" cy="926592"/>
            </a:xfrm>
            <a:custGeom>
              <a:avLst/>
              <a:gdLst/>
              <a:ahLst/>
              <a:cxnLst/>
              <a:rect r="r" b="b" t="t" l="l"/>
              <a:pathLst>
                <a:path h="926592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26592"/>
                  </a:lnTo>
                  <a:lnTo>
                    <a:pt x="0" y="92659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11487" r="0" b="-41148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21945600" cy="98374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120"/>
                </a:lnSpc>
              </a:pPr>
              <a:r>
                <a:rPr lang="en-US" sz="2600" b="true">
                  <a:solidFill>
                    <a:srgbClr val="F8F9F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CSI = 0.4 × Temp_Stress + 0.3 × Moisture_Deficit + 0.3 × Humidity_Stress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731520" y="7863840"/>
            <a:ext cx="16824960" cy="1554480"/>
            <a:chOff x="0" y="0"/>
            <a:chExt cx="22433280" cy="207264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433280" cy="2072640"/>
            </a:xfrm>
            <a:custGeom>
              <a:avLst/>
              <a:gdLst/>
              <a:ahLst/>
              <a:cxnLst/>
              <a:rect r="r" b="b" t="t" l="l"/>
              <a:pathLst>
                <a:path h="2072640" w="22433280">
                  <a:moveTo>
                    <a:pt x="0" y="0"/>
                  </a:moveTo>
                  <a:lnTo>
                    <a:pt x="22433280" y="0"/>
                  </a:lnTo>
                  <a:lnTo>
                    <a:pt x="2243328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60896" r="0" b="-16089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2433280" cy="2110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280"/>
                </a:lnSpc>
              </a:pPr>
              <a:r>
                <a:rPr lang="en-US" sz="1900">
                  <a:solidFill>
                    <a:srgbClr val="D8F3D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• Temp_Stress = max(0, (Temp − Optimal_Temp) / 20) × 100    • Moisture_Deficit = max(0, (Optimal − Soil_Moisture) / Optimal) × 100    • Humidity_Stress = |Humidity − Optimal| / Optimal × 100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B433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71707" cy="10312403"/>
            <a:chOff x="0" y="0"/>
            <a:chExt cx="228943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19507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E9C46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85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3732890"/>
                  </a:lnTo>
                  <a:cubicBezTo>
                    <a:pt x="228854" y="13742290"/>
                    <a:pt x="221234" y="13749782"/>
                    <a:pt x="2119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11963" y="13716000"/>
                  </a:lnTo>
                  <a:lnTo>
                    <a:pt x="211963" y="13732890"/>
                  </a:lnTo>
                  <a:lnTo>
                    <a:pt x="195072" y="13732890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9C46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57200" y="256032"/>
            <a:ext cx="16459200" cy="804672"/>
            <a:chOff x="0" y="0"/>
            <a:chExt cx="21945600" cy="10728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8557" r="0" b="-34855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1945600" cy="1091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8F9F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07  |  Stress Classification &amp; ML Models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57200" y="1499616"/>
            <a:ext cx="10972800" cy="512064"/>
            <a:chOff x="0" y="0"/>
            <a:chExt cx="14630400" cy="68275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4630400" cy="682752"/>
            </a:xfrm>
            <a:custGeom>
              <a:avLst/>
              <a:gdLst/>
              <a:ahLst/>
              <a:cxnLst/>
              <a:rect r="r" b="b" t="t" l="l"/>
              <a:pathLst>
                <a:path h="682752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536" r="0" b="-36753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46304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B4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CSI Classification &amp; Farmer Actions</a:t>
              </a:r>
            </a:p>
          </p:txBody>
        </p:sp>
      </p:grpSp>
      <p:graphicFrame>
        <p:nvGraphicFramePr>
          <p:cNvPr name="Table 14" id="14"/>
          <p:cNvGraphicFramePr>
            <a:graphicFrameLocks noGrp="true"/>
          </p:cNvGraphicFramePr>
          <p:nvPr/>
        </p:nvGraphicFramePr>
        <p:xfrm>
          <a:off x="457200" y="2048256"/>
          <a:ext cx="17348200" cy="2438400"/>
        </p:xfrm>
        <a:graphic>
          <a:graphicData uri="http://schemas.openxmlformats.org/drawingml/2006/table">
            <a:tbl>
              <a:tblPr/>
              <a:tblGrid>
                <a:gridCol w="3303339"/>
                <a:gridCol w="4573273"/>
                <a:gridCol w="9471588"/>
              </a:tblGrid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8F9F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CSI Range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8F9F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Stress Level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F8F9F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Farmer Action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2E7D32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0 – 33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2E7D32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🟢  LOW STRESS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Monitor only — No immediate action needed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E651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34 – 66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E651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🟡  MILD STRESS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Irrigate and/or apply shade nets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609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E76F5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67 – 100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 b="true">
                          <a:solidFill>
                            <a:srgbClr val="E76F51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🔴  HIGH STRESS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640"/>
                        </a:lnSpc>
                        <a:defRPr/>
                      </a:pPr>
                      <a:r>
                        <a:rPr lang="en-US" sz="22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URGENT — Immediate crop protection required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</a:tbl>
          </a:graphicData>
        </a:graphic>
      </p:graphicFrame>
      <p:grpSp>
        <p:nvGrpSpPr>
          <p:cNvPr name="Group 15" id="15"/>
          <p:cNvGrpSpPr/>
          <p:nvPr/>
        </p:nvGrpSpPr>
        <p:grpSpPr>
          <a:xfrm rot="0">
            <a:off x="457200" y="4791456"/>
            <a:ext cx="10972800" cy="512064"/>
            <a:chOff x="0" y="0"/>
            <a:chExt cx="14630400" cy="6827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630400" cy="682752"/>
            </a:xfrm>
            <a:custGeom>
              <a:avLst/>
              <a:gdLst/>
              <a:ahLst/>
              <a:cxnLst/>
              <a:rect r="r" b="b" t="t" l="l"/>
              <a:pathLst>
                <a:path h="682752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536" r="0" b="-367536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146304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B4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ML Models — Performance Comparison</a:t>
              </a:r>
            </a:p>
          </p:txBody>
        </p:sp>
      </p:grpSp>
      <p:graphicFrame>
        <p:nvGraphicFramePr>
          <p:cNvPr name="Table 18" id="18"/>
          <p:cNvGraphicFramePr>
            <a:graphicFrameLocks noGrp="true"/>
          </p:cNvGraphicFramePr>
          <p:nvPr/>
        </p:nvGraphicFramePr>
        <p:xfrm>
          <a:off x="457200" y="5394960"/>
          <a:ext cx="17322800" cy="2743200"/>
        </p:xfrm>
        <a:graphic>
          <a:graphicData uri="http://schemas.openxmlformats.org/drawingml/2006/table">
            <a:tbl>
              <a:tblPr/>
              <a:tblGrid>
                <a:gridCol w="4005663"/>
                <a:gridCol w="5989706"/>
                <a:gridCol w="2743090"/>
                <a:gridCol w="2562722"/>
                <a:gridCol w="2021620"/>
              </a:tblGrid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8F9F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Model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8F9F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Simple Explanation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8F9F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Base Accuracy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8F9F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Our Accuracy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8F9F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Gain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Linear Regression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Best-fit straight line through data points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~72%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75%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+3%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Decision Tree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Yes/No flowchart — easy to interpret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~75%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79%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+4%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6858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1B2B1B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Random Forest ★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100+ trees vote — majority wins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~80%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2D6A4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84%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2D6A4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+4%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</a:tbl>
          </a:graphicData>
        </a:graphic>
      </p:graphicFrame>
      <p:grpSp>
        <p:nvGrpSpPr>
          <p:cNvPr name="Group 19" id="19"/>
          <p:cNvGrpSpPr/>
          <p:nvPr/>
        </p:nvGrpSpPr>
        <p:grpSpPr>
          <a:xfrm rot="0">
            <a:off x="457200" y="8449056"/>
            <a:ext cx="17373600" cy="640080"/>
            <a:chOff x="0" y="0"/>
            <a:chExt cx="23164800" cy="8534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3164800" cy="853440"/>
            </a:xfrm>
            <a:custGeom>
              <a:avLst/>
              <a:gdLst/>
              <a:ahLst/>
              <a:cxnLst/>
              <a:rect r="r" b="b" t="t" l="l"/>
              <a:pathLst>
                <a:path h="85344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8879" r="0" b="-478879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3164800" cy="8915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400"/>
                </a:lnSpc>
              </a:pPr>
              <a:r>
                <a:rPr lang="en-US" sz="2000" i="true">
                  <a:solidFill>
                    <a:srgbClr val="2D6A4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Train/Test Split: 80% Training (2,000 records) | 20% Testing (500 records) | Stratified split for balanced class representation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B433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71707" cy="10312403"/>
            <a:chOff x="0" y="0"/>
            <a:chExt cx="228943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19507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E9C46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85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3732890"/>
                  </a:lnTo>
                  <a:cubicBezTo>
                    <a:pt x="228854" y="13742290"/>
                    <a:pt x="221234" y="13749782"/>
                    <a:pt x="2119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11963" y="13716000"/>
                  </a:lnTo>
                  <a:lnTo>
                    <a:pt x="211963" y="13732890"/>
                  </a:lnTo>
                  <a:lnTo>
                    <a:pt x="195072" y="13732890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9C46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69906" y="256032"/>
            <a:ext cx="16459200" cy="804672"/>
            <a:chOff x="0" y="0"/>
            <a:chExt cx="21945600" cy="10728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8557" r="0" b="-34855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1945600" cy="1091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8F9F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08  |    Linear Regression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57829" y="256032"/>
            <a:ext cx="8341677" cy="8743939"/>
            <a:chOff x="0" y="0"/>
            <a:chExt cx="9479701" cy="993684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479701" cy="9936842"/>
            </a:xfrm>
            <a:custGeom>
              <a:avLst/>
              <a:gdLst/>
              <a:ahLst/>
              <a:cxnLst/>
              <a:rect r="r" b="b" t="t" l="l"/>
              <a:pathLst>
                <a:path h="9936842" w="9479701">
                  <a:moveTo>
                    <a:pt x="0" y="0"/>
                  </a:moveTo>
                  <a:lnTo>
                    <a:pt x="9479701" y="0"/>
                  </a:lnTo>
                  <a:lnTo>
                    <a:pt x="9479701" y="9936842"/>
                  </a:lnTo>
                  <a:lnTo>
                    <a:pt x="0" y="99368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53" r="-54333" b="6787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9479701" cy="9993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 b="true">
                  <a:solidFill>
                    <a:srgbClr val="1B4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Think of Linear Regression as drawing a straight line through a scatter of dots. Each dot is one crop record. The line best represents the overall trend — as one thing goes up (like temperature), what happens to another thing (like stress level)?</a:t>
              </a:r>
            </a:p>
            <a:p>
              <a:pPr algn="l">
                <a:lnSpc>
                  <a:spcPts val="3599"/>
                </a:lnSpc>
              </a:pPr>
            </a:p>
            <a:p>
              <a:pPr algn="l">
                <a:lnSpc>
                  <a:spcPts val="3599"/>
                </a:lnSpc>
              </a:pPr>
              <a:r>
                <a:rPr lang="en-US" sz="2999" b="true">
                  <a:solidFill>
                    <a:srgbClr val="1B4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It is the simplest model. It works well when the relationship between two things is straightforward and roughly linear. It is used in the base paper (Lobell &amp; Burke, 2010) and also in our study for comparison.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8899531" y="1971974"/>
            <a:ext cx="9235995" cy="6008258"/>
          </a:xfrm>
          <a:custGeom>
            <a:avLst/>
            <a:gdLst/>
            <a:ahLst/>
            <a:cxnLst/>
            <a:rect r="r" b="b" t="t" l="l"/>
            <a:pathLst>
              <a:path h="6008258" w="9235995">
                <a:moveTo>
                  <a:pt x="0" y="0"/>
                </a:moveTo>
                <a:lnTo>
                  <a:pt x="9235995" y="0"/>
                </a:lnTo>
                <a:lnTo>
                  <a:pt x="9235995" y="6008257"/>
                </a:lnTo>
                <a:lnTo>
                  <a:pt x="0" y="600825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B433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71707" cy="10312403"/>
            <a:chOff x="0" y="0"/>
            <a:chExt cx="228943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19507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E9C46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85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3732890"/>
                  </a:lnTo>
                  <a:cubicBezTo>
                    <a:pt x="228854" y="13742290"/>
                    <a:pt x="221234" y="13749782"/>
                    <a:pt x="2119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11963" y="13716000"/>
                  </a:lnTo>
                  <a:lnTo>
                    <a:pt x="211963" y="13732890"/>
                  </a:lnTo>
                  <a:lnTo>
                    <a:pt x="195072" y="13732890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9C46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69906" y="256032"/>
            <a:ext cx="16459200" cy="804672"/>
            <a:chOff x="0" y="0"/>
            <a:chExt cx="21945600" cy="10728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8557" r="0" b="-34855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1945600" cy="1091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8F9F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09  |    Decision Tree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57829" y="514361"/>
            <a:ext cx="8341677" cy="8743939"/>
            <a:chOff x="0" y="0"/>
            <a:chExt cx="9479701" cy="993684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479701" cy="9936842"/>
            </a:xfrm>
            <a:custGeom>
              <a:avLst/>
              <a:gdLst/>
              <a:ahLst/>
              <a:cxnLst/>
              <a:rect r="r" b="b" t="t" l="l"/>
              <a:pathLst>
                <a:path h="9936842" w="9479701">
                  <a:moveTo>
                    <a:pt x="0" y="0"/>
                  </a:moveTo>
                  <a:lnTo>
                    <a:pt x="9479701" y="0"/>
                  </a:lnTo>
                  <a:lnTo>
                    <a:pt x="9479701" y="9936842"/>
                  </a:lnTo>
                  <a:lnTo>
                    <a:pt x="0" y="99368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53" r="-54333" b="6787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9479701" cy="9993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 b="true">
                  <a:solidFill>
                    <a:srgbClr val="1B4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 Decision Tree works exactly like a flow chart of Yes/No questions. It is the most intuitive model — you can literally read it like a game of 20 questions. Start at the top, answer the question, go left or right, and arrive at the answer.</a:t>
              </a:r>
            </a:p>
            <a:p>
              <a:pPr algn="l">
                <a:lnSpc>
                  <a:spcPts val="3599"/>
                </a:lnSpc>
              </a:pPr>
            </a:p>
            <a:p>
              <a:pPr algn="l">
                <a:lnSpc>
                  <a:spcPts val="3599"/>
                </a:lnSpc>
              </a:pPr>
            </a:p>
            <a:p>
              <a:pPr algn="l">
                <a:lnSpc>
                  <a:spcPts val="3599"/>
                </a:lnSpc>
              </a:pPr>
              <a:r>
                <a:rPr lang="en-US" sz="2999" b="true">
                  <a:solidFill>
                    <a:srgbClr val="1B4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For example: Is Temperature &gt; 35 degC? YES -&gt; Is Soil Moisture &lt; 30%? YES -&gt; HIGH STRESS. This makes it very easy to explain and understand, even without technical knowledge.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8699506" y="2376680"/>
            <a:ext cx="9256242" cy="5019301"/>
          </a:xfrm>
          <a:custGeom>
            <a:avLst/>
            <a:gdLst/>
            <a:ahLst/>
            <a:cxnLst/>
            <a:rect r="r" b="b" t="t" l="l"/>
            <a:pathLst>
              <a:path h="5019301" w="9256242">
                <a:moveTo>
                  <a:pt x="0" y="0"/>
                </a:moveTo>
                <a:lnTo>
                  <a:pt x="9256242" y="0"/>
                </a:lnTo>
                <a:lnTo>
                  <a:pt x="9256242" y="5019301"/>
                </a:lnTo>
                <a:lnTo>
                  <a:pt x="0" y="50193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B433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71707" cy="10312403"/>
            <a:chOff x="0" y="0"/>
            <a:chExt cx="228943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19507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E9C46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85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3732890"/>
                  </a:lnTo>
                  <a:cubicBezTo>
                    <a:pt x="228854" y="13742290"/>
                    <a:pt x="221234" y="13749782"/>
                    <a:pt x="2119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11963" y="13716000"/>
                  </a:lnTo>
                  <a:lnTo>
                    <a:pt x="211963" y="13732890"/>
                  </a:lnTo>
                  <a:lnTo>
                    <a:pt x="195072" y="13732890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9C46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15928" y="256032"/>
            <a:ext cx="16459200" cy="804672"/>
            <a:chOff x="0" y="0"/>
            <a:chExt cx="21945600" cy="10728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8557" r="0" b="-34855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1945600" cy="1091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8F9F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10  |    Random Forest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01166" y="140935"/>
            <a:ext cx="8341677" cy="8743939"/>
            <a:chOff x="0" y="0"/>
            <a:chExt cx="9479701" cy="993684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479701" cy="9936842"/>
            </a:xfrm>
            <a:custGeom>
              <a:avLst/>
              <a:gdLst/>
              <a:ahLst/>
              <a:cxnLst/>
              <a:rect r="r" b="b" t="t" l="l"/>
              <a:pathLst>
                <a:path h="9936842" w="9479701">
                  <a:moveTo>
                    <a:pt x="0" y="0"/>
                  </a:moveTo>
                  <a:lnTo>
                    <a:pt x="9479701" y="0"/>
                  </a:lnTo>
                  <a:lnTo>
                    <a:pt x="9479701" y="9936842"/>
                  </a:lnTo>
                  <a:lnTo>
                    <a:pt x="0" y="993684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253" r="-54333" b="67875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9479701" cy="999399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599"/>
                </a:lnSpc>
              </a:pPr>
              <a:r>
                <a:rPr lang="en-US" sz="2999" b="true">
                  <a:solidFill>
                    <a:srgbClr val="1B4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Random Forest is like asking 100 doctors for a diagnosis and going with the majority opinion. Instead of one Decision Tree, it builds 100+ trees, each using slightly different data. All trees vote, and the most popular answer wins.</a:t>
              </a:r>
            </a:p>
            <a:p>
              <a:pPr algn="l">
                <a:lnSpc>
                  <a:spcPts val="3599"/>
                </a:lnSpc>
              </a:pPr>
            </a:p>
            <a:p>
              <a:pPr algn="l">
                <a:lnSpc>
                  <a:spcPts val="3599"/>
                </a:lnSpc>
              </a:pPr>
            </a:p>
            <a:p>
              <a:pPr algn="l">
                <a:lnSpc>
                  <a:spcPts val="3599"/>
                </a:lnSpc>
              </a:pPr>
              <a:r>
                <a:rPr lang="en-US" sz="2999" b="true">
                  <a:solidFill>
                    <a:srgbClr val="1B4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This approach is much more accurate than a single tree because individual trees can make mistakes, but when 100 trees vote together, errors cancel out and the collective decision is almost always correct.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9144005" y="1890178"/>
            <a:ext cx="8696829" cy="5759792"/>
          </a:xfrm>
          <a:custGeom>
            <a:avLst/>
            <a:gdLst/>
            <a:ahLst/>
            <a:cxnLst/>
            <a:rect r="r" b="b" t="t" l="l"/>
            <a:pathLst>
              <a:path h="5759792" w="8696829">
                <a:moveTo>
                  <a:pt x="0" y="0"/>
                </a:moveTo>
                <a:lnTo>
                  <a:pt x="8696829" y="0"/>
                </a:lnTo>
                <a:lnTo>
                  <a:pt x="8696829" y="5759792"/>
                </a:lnTo>
                <a:lnTo>
                  <a:pt x="0" y="575979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71707" cy="10312403"/>
            <a:chOff x="0" y="0"/>
            <a:chExt cx="228943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19507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E9C46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85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3732890"/>
                  </a:lnTo>
                  <a:cubicBezTo>
                    <a:pt x="228854" y="13742290"/>
                    <a:pt x="221234" y="13749782"/>
                    <a:pt x="2119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11963" y="13716000"/>
                  </a:lnTo>
                  <a:lnTo>
                    <a:pt x="211963" y="13732890"/>
                  </a:lnTo>
                  <a:lnTo>
                    <a:pt x="195072" y="13732890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9C46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57200" y="256032"/>
            <a:ext cx="16459200" cy="804672"/>
            <a:chOff x="0" y="0"/>
            <a:chExt cx="21945600" cy="10728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8557" r="0" b="-34855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1945600" cy="1091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8F9F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11</a:t>
              </a:r>
              <a:r>
                <a:rPr lang="en-US" sz="4000" b="true">
                  <a:solidFill>
                    <a:srgbClr val="F8F9F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  |  System Architecture &amp; Pipeline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65760" y="1554480"/>
            <a:ext cx="2706624" cy="6949440"/>
            <a:chOff x="0" y="0"/>
            <a:chExt cx="3608832" cy="92659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608832" cy="9265920"/>
            </a:xfrm>
            <a:custGeom>
              <a:avLst/>
              <a:gdLst/>
              <a:ahLst/>
              <a:cxnLst/>
              <a:rect r="r" b="b" t="t" l="l"/>
              <a:pathLst>
                <a:path h="9265920" w="3608832">
                  <a:moveTo>
                    <a:pt x="0" y="0"/>
                  </a:moveTo>
                  <a:lnTo>
                    <a:pt x="3608832" y="0"/>
                  </a:lnTo>
                  <a:lnTo>
                    <a:pt x="3608832" y="9265920"/>
                  </a:lnTo>
                  <a:lnTo>
                    <a:pt x="0" y="9265920"/>
                  </a:lnTo>
                  <a:close/>
                </a:path>
              </a:pathLst>
            </a:custGeom>
            <a:solidFill>
              <a:srgbClr val="D8F3DC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353063" y="1541783"/>
            <a:ext cx="2732027" cy="939803"/>
            <a:chOff x="0" y="0"/>
            <a:chExt cx="3642703" cy="125307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3608832" cy="1219200"/>
            </a:xfrm>
            <a:custGeom>
              <a:avLst/>
              <a:gdLst/>
              <a:ahLst/>
              <a:cxnLst/>
              <a:rect r="r" b="b" t="t" l="l"/>
              <a:pathLst>
                <a:path h="1219200" w="3608832">
                  <a:moveTo>
                    <a:pt x="0" y="0"/>
                  </a:moveTo>
                  <a:lnTo>
                    <a:pt x="3608832" y="0"/>
                  </a:lnTo>
                  <a:lnTo>
                    <a:pt x="3608832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B4332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642614" cy="1252984"/>
            </a:xfrm>
            <a:custGeom>
              <a:avLst/>
              <a:gdLst/>
              <a:ahLst/>
              <a:cxnLst/>
              <a:rect r="r" b="b" t="t" l="l"/>
              <a:pathLst>
                <a:path h="1252984" w="3642614">
                  <a:moveTo>
                    <a:pt x="16891" y="0"/>
                  </a:moveTo>
                  <a:lnTo>
                    <a:pt x="3625723" y="0"/>
                  </a:lnTo>
                  <a:cubicBezTo>
                    <a:pt x="3635121" y="0"/>
                    <a:pt x="3642614" y="7620"/>
                    <a:pt x="3642614" y="16891"/>
                  </a:cubicBezTo>
                  <a:lnTo>
                    <a:pt x="3642614" y="1236091"/>
                  </a:lnTo>
                  <a:cubicBezTo>
                    <a:pt x="3642614" y="1245489"/>
                    <a:pt x="3634994" y="1252982"/>
                    <a:pt x="3625723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3625723" y="1219200"/>
                  </a:lnTo>
                  <a:lnTo>
                    <a:pt x="3625723" y="1236091"/>
                  </a:lnTo>
                  <a:lnTo>
                    <a:pt x="3608832" y="1236091"/>
                  </a:lnTo>
                  <a:lnTo>
                    <a:pt x="3608832" y="16891"/>
                  </a:lnTo>
                  <a:lnTo>
                    <a:pt x="3625723" y="16891"/>
                  </a:lnTo>
                  <a:lnTo>
                    <a:pt x="362572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57200" y="1609344"/>
            <a:ext cx="2523744" cy="457200"/>
            <a:chOff x="0" y="0"/>
            <a:chExt cx="3364992" cy="609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364992" cy="609600"/>
            </a:xfrm>
            <a:custGeom>
              <a:avLst/>
              <a:gdLst/>
              <a:ahLst/>
              <a:cxnLst/>
              <a:rect r="r" b="b" t="t" l="l"/>
              <a:pathLst>
                <a:path h="60960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557" r="0" b="-57557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3364992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E9C46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1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57200" y="2560320"/>
            <a:ext cx="2523744" cy="1005840"/>
            <a:chOff x="0" y="0"/>
            <a:chExt cx="3364992" cy="134112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364992" cy="1341120"/>
            </a:xfrm>
            <a:custGeom>
              <a:avLst/>
              <a:gdLst/>
              <a:ahLst/>
              <a:cxnLst/>
              <a:rect r="r" b="b" t="t" l="l"/>
              <a:pathLst>
                <a:path h="134112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35" t="0" r="-1135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3364992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1B4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Collection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57200" y="3657600"/>
            <a:ext cx="2523744" cy="2743200"/>
            <a:chOff x="0" y="0"/>
            <a:chExt cx="3364992" cy="36576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3364992" cy="3657600"/>
            </a:xfrm>
            <a:custGeom>
              <a:avLst/>
              <a:gdLst/>
              <a:ahLst/>
              <a:cxnLst/>
              <a:rect r="r" b="b" t="t" l="l"/>
              <a:pathLst>
                <a:path h="365760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9460" t="0" r="-89460" b="0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3364992" cy="3695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Weather data from Kaggle / IMD stations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Soil moisture from sensors or estimated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3046981" y="3174997"/>
            <a:ext cx="690877" cy="50797"/>
            <a:chOff x="0" y="0"/>
            <a:chExt cx="921169" cy="67729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33909" y="0"/>
              <a:ext cx="853440" cy="67691"/>
            </a:xfrm>
            <a:custGeom>
              <a:avLst/>
              <a:gdLst/>
              <a:ahLst/>
              <a:cxnLst/>
              <a:rect r="r" b="b" t="t" l="l"/>
              <a:pathLst>
                <a:path h="67691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3346704" y="1554480"/>
            <a:ext cx="2706624" cy="6949440"/>
            <a:chOff x="0" y="0"/>
            <a:chExt cx="3608832" cy="926592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3608832" cy="9265920"/>
            </a:xfrm>
            <a:custGeom>
              <a:avLst/>
              <a:gdLst/>
              <a:ahLst/>
              <a:cxnLst/>
              <a:rect r="r" b="b" t="t" l="l"/>
              <a:pathLst>
                <a:path h="9265920" w="3608832">
                  <a:moveTo>
                    <a:pt x="0" y="0"/>
                  </a:moveTo>
                  <a:lnTo>
                    <a:pt x="3608832" y="0"/>
                  </a:lnTo>
                  <a:lnTo>
                    <a:pt x="3608832" y="9265920"/>
                  </a:lnTo>
                  <a:lnTo>
                    <a:pt x="0" y="9265920"/>
                  </a:lnTo>
                  <a:close/>
                </a:path>
              </a:pathLst>
            </a:custGeom>
            <a:solidFill>
              <a:srgbClr val="E8F5E9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3334007" y="1541783"/>
            <a:ext cx="2732027" cy="939803"/>
            <a:chOff x="0" y="0"/>
            <a:chExt cx="3642703" cy="125307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16891" y="16891"/>
              <a:ext cx="3608832" cy="1219200"/>
            </a:xfrm>
            <a:custGeom>
              <a:avLst/>
              <a:gdLst/>
              <a:ahLst/>
              <a:cxnLst/>
              <a:rect r="r" b="b" t="t" l="l"/>
              <a:pathLst>
                <a:path h="1219200" w="3608832">
                  <a:moveTo>
                    <a:pt x="0" y="0"/>
                  </a:moveTo>
                  <a:lnTo>
                    <a:pt x="3608832" y="0"/>
                  </a:lnTo>
                  <a:lnTo>
                    <a:pt x="3608832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B4332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642614" cy="1252984"/>
            </a:xfrm>
            <a:custGeom>
              <a:avLst/>
              <a:gdLst/>
              <a:ahLst/>
              <a:cxnLst/>
              <a:rect r="r" b="b" t="t" l="l"/>
              <a:pathLst>
                <a:path h="1252984" w="3642614">
                  <a:moveTo>
                    <a:pt x="16891" y="0"/>
                  </a:moveTo>
                  <a:lnTo>
                    <a:pt x="3625723" y="0"/>
                  </a:lnTo>
                  <a:cubicBezTo>
                    <a:pt x="3635121" y="0"/>
                    <a:pt x="3642614" y="7620"/>
                    <a:pt x="3642614" y="16891"/>
                  </a:cubicBezTo>
                  <a:lnTo>
                    <a:pt x="3642614" y="1236091"/>
                  </a:lnTo>
                  <a:cubicBezTo>
                    <a:pt x="3642614" y="1245489"/>
                    <a:pt x="3634994" y="1252982"/>
                    <a:pt x="3625723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3625723" y="1219200"/>
                  </a:lnTo>
                  <a:lnTo>
                    <a:pt x="3625723" y="1236091"/>
                  </a:lnTo>
                  <a:lnTo>
                    <a:pt x="3608832" y="1236091"/>
                  </a:lnTo>
                  <a:lnTo>
                    <a:pt x="3608832" y="16891"/>
                  </a:lnTo>
                  <a:lnTo>
                    <a:pt x="3625723" y="16891"/>
                  </a:lnTo>
                  <a:lnTo>
                    <a:pt x="362572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3438144" y="1609344"/>
            <a:ext cx="2523744" cy="457200"/>
            <a:chOff x="0" y="0"/>
            <a:chExt cx="3364992" cy="6096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3364992" cy="609600"/>
            </a:xfrm>
            <a:custGeom>
              <a:avLst/>
              <a:gdLst/>
              <a:ahLst/>
              <a:cxnLst/>
              <a:rect r="r" b="b" t="t" l="l"/>
              <a:pathLst>
                <a:path h="60960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557" r="0" b="-57557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3364992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E9C46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2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3438144" y="2560320"/>
            <a:ext cx="2523744" cy="1005840"/>
            <a:chOff x="0" y="0"/>
            <a:chExt cx="3364992" cy="134112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3364992" cy="1341120"/>
            </a:xfrm>
            <a:custGeom>
              <a:avLst/>
              <a:gdLst/>
              <a:ahLst/>
              <a:cxnLst/>
              <a:rect r="r" b="b" t="t" l="l"/>
              <a:pathLst>
                <a:path h="134112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35" t="0" r="-1135" b="0"/>
              </a:stretch>
            </a:blip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3364992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1B4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Data Cleaning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3438144" y="3657600"/>
            <a:ext cx="2523744" cy="2743200"/>
            <a:chOff x="0" y="0"/>
            <a:chExt cx="3364992" cy="36576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3364992" cy="3657600"/>
            </a:xfrm>
            <a:custGeom>
              <a:avLst/>
              <a:gdLst/>
              <a:ahLst/>
              <a:cxnLst/>
              <a:rect r="r" b="b" t="t" l="l"/>
              <a:pathLst>
                <a:path h="365760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9460" t="0" r="-89460" b="0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38100"/>
              <a:ext cx="3364992" cy="3695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Fill missing values, remove outliers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Standardize all values to same scale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6027925" y="3174997"/>
            <a:ext cx="690877" cy="50797"/>
            <a:chOff x="0" y="0"/>
            <a:chExt cx="921169" cy="67729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33909" y="0"/>
              <a:ext cx="853440" cy="67691"/>
            </a:xfrm>
            <a:custGeom>
              <a:avLst/>
              <a:gdLst/>
              <a:ahLst/>
              <a:cxnLst/>
              <a:rect r="r" b="b" t="t" l="l"/>
              <a:pathLst>
                <a:path h="67691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43" id="43"/>
          <p:cNvGrpSpPr/>
          <p:nvPr/>
        </p:nvGrpSpPr>
        <p:grpSpPr>
          <a:xfrm rot="0">
            <a:off x="6327648" y="1554480"/>
            <a:ext cx="2706624" cy="6949440"/>
            <a:chOff x="0" y="0"/>
            <a:chExt cx="3608832" cy="926592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3608832" cy="9265920"/>
            </a:xfrm>
            <a:custGeom>
              <a:avLst/>
              <a:gdLst/>
              <a:ahLst/>
              <a:cxnLst/>
              <a:rect r="r" b="b" t="t" l="l"/>
              <a:pathLst>
                <a:path h="9265920" w="3608832">
                  <a:moveTo>
                    <a:pt x="0" y="0"/>
                  </a:moveTo>
                  <a:lnTo>
                    <a:pt x="3608832" y="0"/>
                  </a:lnTo>
                  <a:lnTo>
                    <a:pt x="3608832" y="9265920"/>
                  </a:lnTo>
                  <a:lnTo>
                    <a:pt x="0" y="9265920"/>
                  </a:lnTo>
                  <a:close/>
                </a:path>
              </a:pathLst>
            </a:custGeom>
            <a:solidFill>
              <a:srgbClr val="D8F3DC"/>
            </a:solidFill>
          </p:spPr>
        </p:sp>
      </p:grpSp>
      <p:grpSp>
        <p:nvGrpSpPr>
          <p:cNvPr name="Group 45" id="45"/>
          <p:cNvGrpSpPr/>
          <p:nvPr/>
        </p:nvGrpSpPr>
        <p:grpSpPr>
          <a:xfrm rot="0">
            <a:off x="6314951" y="1541783"/>
            <a:ext cx="2732027" cy="939803"/>
            <a:chOff x="0" y="0"/>
            <a:chExt cx="3642703" cy="125307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16891" y="16891"/>
              <a:ext cx="3608832" cy="1219200"/>
            </a:xfrm>
            <a:custGeom>
              <a:avLst/>
              <a:gdLst/>
              <a:ahLst/>
              <a:cxnLst/>
              <a:rect r="r" b="b" t="t" l="l"/>
              <a:pathLst>
                <a:path h="1219200" w="3608832">
                  <a:moveTo>
                    <a:pt x="0" y="0"/>
                  </a:moveTo>
                  <a:lnTo>
                    <a:pt x="3608832" y="0"/>
                  </a:lnTo>
                  <a:lnTo>
                    <a:pt x="3608832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B4332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3642614" cy="1252984"/>
            </a:xfrm>
            <a:custGeom>
              <a:avLst/>
              <a:gdLst/>
              <a:ahLst/>
              <a:cxnLst/>
              <a:rect r="r" b="b" t="t" l="l"/>
              <a:pathLst>
                <a:path h="1252984" w="3642614">
                  <a:moveTo>
                    <a:pt x="16891" y="0"/>
                  </a:moveTo>
                  <a:lnTo>
                    <a:pt x="3625723" y="0"/>
                  </a:lnTo>
                  <a:cubicBezTo>
                    <a:pt x="3635121" y="0"/>
                    <a:pt x="3642614" y="7620"/>
                    <a:pt x="3642614" y="16891"/>
                  </a:cubicBezTo>
                  <a:lnTo>
                    <a:pt x="3642614" y="1236091"/>
                  </a:lnTo>
                  <a:cubicBezTo>
                    <a:pt x="3642614" y="1245489"/>
                    <a:pt x="3634994" y="1252982"/>
                    <a:pt x="3625723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3625723" y="1219200"/>
                  </a:lnTo>
                  <a:lnTo>
                    <a:pt x="3625723" y="1236091"/>
                  </a:lnTo>
                  <a:lnTo>
                    <a:pt x="3608832" y="1236091"/>
                  </a:lnTo>
                  <a:lnTo>
                    <a:pt x="3608832" y="16891"/>
                  </a:lnTo>
                  <a:lnTo>
                    <a:pt x="3625723" y="16891"/>
                  </a:lnTo>
                  <a:lnTo>
                    <a:pt x="362572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6419088" y="1609344"/>
            <a:ext cx="2523744" cy="457200"/>
            <a:chOff x="0" y="0"/>
            <a:chExt cx="3364992" cy="609600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364992" cy="609600"/>
            </a:xfrm>
            <a:custGeom>
              <a:avLst/>
              <a:gdLst/>
              <a:ahLst/>
              <a:cxnLst/>
              <a:rect r="r" b="b" t="t" l="l"/>
              <a:pathLst>
                <a:path h="60960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557" r="0" b="-57557"/>
              </a:stretch>
            </a:blipFill>
          </p:spPr>
        </p:sp>
        <p:sp>
          <p:nvSpPr>
            <p:cNvPr name="TextBox 50" id="50"/>
            <p:cNvSpPr txBox="true"/>
            <p:nvPr/>
          </p:nvSpPr>
          <p:spPr>
            <a:xfrm>
              <a:off x="0" y="-38100"/>
              <a:ext cx="3364992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E9C46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3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6419088" y="2560320"/>
            <a:ext cx="2523744" cy="1005840"/>
            <a:chOff x="0" y="0"/>
            <a:chExt cx="3364992" cy="1341120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3364992" cy="1341120"/>
            </a:xfrm>
            <a:custGeom>
              <a:avLst/>
              <a:gdLst/>
              <a:ahLst/>
              <a:cxnLst/>
              <a:rect r="r" b="b" t="t" l="l"/>
              <a:pathLst>
                <a:path h="134112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35" t="0" r="-1135" b="0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38100"/>
              <a:ext cx="3364992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1B4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Feature Engineering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6419088" y="3657600"/>
            <a:ext cx="2523744" cy="2743200"/>
            <a:chOff x="0" y="0"/>
            <a:chExt cx="3364992" cy="3657600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364992" cy="3657600"/>
            </a:xfrm>
            <a:custGeom>
              <a:avLst/>
              <a:gdLst/>
              <a:ahLst/>
              <a:cxnLst/>
              <a:rect r="r" b="b" t="t" l="l"/>
              <a:pathLst>
                <a:path h="365760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9460" t="0" r="-89460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38100"/>
              <a:ext cx="3364992" cy="3695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CSI calculated &amp; added as new column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(Novel step — key contribution)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9008869" y="3174997"/>
            <a:ext cx="690877" cy="50797"/>
            <a:chOff x="0" y="0"/>
            <a:chExt cx="921169" cy="67729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33909" y="0"/>
              <a:ext cx="853440" cy="67691"/>
            </a:xfrm>
            <a:custGeom>
              <a:avLst/>
              <a:gdLst/>
              <a:ahLst/>
              <a:cxnLst/>
              <a:rect r="r" b="b" t="t" l="l"/>
              <a:pathLst>
                <a:path h="67691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59" id="59"/>
          <p:cNvGrpSpPr/>
          <p:nvPr/>
        </p:nvGrpSpPr>
        <p:grpSpPr>
          <a:xfrm rot="0">
            <a:off x="9308592" y="1554480"/>
            <a:ext cx="2706624" cy="6949440"/>
            <a:chOff x="0" y="0"/>
            <a:chExt cx="3608832" cy="926592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3608832" cy="9265920"/>
            </a:xfrm>
            <a:custGeom>
              <a:avLst/>
              <a:gdLst/>
              <a:ahLst/>
              <a:cxnLst/>
              <a:rect r="r" b="b" t="t" l="l"/>
              <a:pathLst>
                <a:path h="9265920" w="3608832">
                  <a:moveTo>
                    <a:pt x="0" y="0"/>
                  </a:moveTo>
                  <a:lnTo>
                    <a:pt x="3608832" y="0"/>
                  </a:lnTo>
                  <a:lnTo>
                    <a:pt x="3608832" y="9265920"/>
                  </a:lnTo>
                  <a:lnTo>
                    <a:pt x="0" y="9265920"/>
                  </a:lnTo>
                  <a:close/>
                </a:path>
              </a:pathLst>
            </a:custGeom>
            <a:solidFill>
              <a:srgbClr val="E8F5E9"/>
            </a:solidFill>
          </p:spPr>
        </p:sp>
      </p:grpSp>
      <p:grpSp>
        <p:nvGrpSpPr>
          <p:cNvPr name="Group 61" id="61"/>
          <p:cNvGrpSpPr/>
          <p:nvPr/>
        </p:nvGrpSpPr>
        <p:grpSpPr>
          <a:xfrm rot="0">
            <a:off x="9295895" y="1541783"/>
            <a:ext cx="2732027" cy="939803"/>
            <a:chOff x="0" y="0"/>
            <a:chExt cx="3642703" cy="1253071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16891" y="16891"/>
              <a:ext cx="3608832" cy="1219200"/>
            </a:xfrm>
            <a:custGeom>
              <a:avLst/>
              <a:gdLst/>
              <a:ahLst/>
              <a:cxnLst/>
              <a:rect r="r" b="b" t="t" l="l"/>
              <a:pathLst>
                <a:path h="1219200" w="3608832">
                  <a:moveTo>
                    <a:pt x="0" y="0"/>
                  </a:moveTo>
                  <a:lnTo>
                    <a:pt x="3608832" y="0"/>
                  </a:lnTo>
                  <a:lnTo>
                    <a:pt x="3608832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B4332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3642614" cy="1252984"/>
            </a:xfrm>
            <a:custGeom>
              <a:avLst/>
              <a:gdLst/>
              <a:ahLst/>
              <a:cxnLst/>
              <a:rect r="r" b="b" t="t" l="l"/>
              <a:pathLst>
                <a:path h="1252984" w="3642614">
                  <a:moveTo>
                    <a:pt x="16891" y="0"/>
                  </a:moveTo>
                  <a:lnTo>
                    <a:pt x="3625723" y="0"/>
                  </a:lnTo>
                  <a:cubicBezTo>
                    <a:pt x="3635121" y="0"/>
                    <a:pt x="3642614" y="7620"/>
                    <a:pt x="3642614" y="16891"/>
                  </a:cubicBezTo>
                  <a:lnTo>
                    <a:pt x="3642614" y="1236091"/>
                  </a:lnTo>
                  <a:cubicBezTo>
                    <a:pt x="3642614" y="1245489"/>
                    <a:pt x="3634994" y="1252982"/>
                    <a:pt x="3625723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3625723" y="1219200"/>
                  </a:lnTo>
                  <a:lnTo>
                    <a:pt x="3625723" y="1236091"/>
                  </a:lnTo>
                  <a:lnTo>
                    <a:pt x="3608832" y="1236091"/>
                  </a:lnTo>
                  <a:lnTo>
                    <a:pt x="3608832" y="16891"/>
                  </a:lnTo>
                  <a:lnTo>
                    <a:pt x="3625723" y="16891"/>
                  </a:lnTo>
                  <a:lnTo>
                    <a:pt x="362572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64" id="64"/>
          <p:cNvGrpSpPr/>
          <p:nvPr/>
        </p:nvGrpSpPr>
        <p:grpSpPr>
          <a:xfrm rot="0">
            <a:off x="9400032" y="1609344"/>
            <a:ext cx="2523744" cy="457200"/>
            <a:chOff x="0" y="0"/>
            <a:chExt cx="3364992" cy="609600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3364992" cy="609600"/>
            </a:xfrm>
            <a:custGeom>
              <a:avLst/>
              <a:gdLst/>
              <a:ahLst/>
              <a:cxnLst/>
              <a:rect r="r" b="b" t="t" l="l"/>
              <a:pathLst>
                <a:path h="60960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557" r="0" b="-57557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38100"/>
              <a:ext cx="3364992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E9C46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4</a:t>
              </a:r>
            </a:p>
          </p:txBody>
        </p:sp>
      </p:grpSp>
      <p:grpSp>
        <p:nvGrpSpPr>
          <p:cNvPr name="Group 67" id="67"/>
          <p:cNvGrpSpPr/>
          <p:nvPr/>
        </p:nvGrpSpPr>
        <p:grpSpPr>
          <a:xfrm rot="0">
            <a:off x="9400032" y="2560320"/>
            <a:ext cx="2523744" cy="1005840"/>
            <a:chOff x="0" y="0"/>
            <a:chExt cx="3364992" cy="1341120"/>
          </a:xfrm>
        </p:grpSpPr>
        <p:sp>
          <p:nvSpPr>
            <p:cNvPr name="Freeform 68" id="68"/>
            <p:cNvSpPr/>
            <p:nvPr/>
          </p:nvSpPr>
          <p:spPr>
            <a:xfrm flipH="false" flipV="false" rot="0">
              <a:off x="0" y="0"/>
              <a:ext cx="3364992" cy="1341120"/>
            </a:xfrm>
            <a:custGeom>
              <a:avLst/>
              <a:gdLst/>
              <a:ahLst/>
              <a:cxnLst/>
              <a:rect r="r" b="b" t="t" l="l"/>
              <a:pathLst>
                <a:path h="134112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35" t="0" r="-1135" b="0"/>
              </a:stretch>
            </a:blipFill>
          </p:spPr>
        </p:sp>
        <p:sp>
          <p:nvSpPr>
            <p:cNvPr name="TextBox 69" id="69"/>
            <p:cNvSpPr txBox="true"/>
            <p:nvPr/>
          </p:nvSpPr>
          <p:spPr>
            <a:xfrm>
              <a:off x="0" y="-38100"/>
              <a:ext cx="3364992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1B4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Model Training</a:t>
              </a:r>
            </a:p>
          </p:txBody>
        </p:sp>
      </p:grpSp>
      <p:grpSp>
        <p:nvGrpSpPr>
          <p:cNvPr name="Group 70" id="70"/>
          <p:cNvGrpSpPr/>
          <p:nvPr/>
        </p:nvGrpSpPr>
        <p:grpSpPr>
          <a:xfrm rot="0">
            <a:off x="9400032" y="3657600"/>
            <a:ext cx="2523744" cy="2743200"/>
            <a:chOff x="0" y="0"/>
            <a:chExt cx="3364992" cy="3657600"/>
          </a:xfrm>
        </p:grpSpPr>
        <p:sp>
          <p:nvSpPr>
            <p:cNvPr name="Freeform 71" id="71"/>
            <p:cNvSpPr/>
            <p:nvPr/>
          </p:nvSpPr>
          <p:spPr>
            <a:xfrm flipH="false" flipV="false" rot="0">
              <a:off x="0" y="0"/>
              <a:ext cx="3364992" cy="3657600"/>
            </a:xfrm>
            <a:custGeom>
              <a:avLst/>
              <a:gdLst/>
              <a:ahLst/>
              <a:cxnLst/>
              <a:rect r="r" b="b" t="t" l="l"/>
              <a:pathLst>
                <a:path h="365760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9460" t="0" r="-89460" b="0"/>
              </a:stretch>
            </a:blipFill>
          </p:spPr>
        </p:sp>
        <p:sp>
          <p:nvSpPr>
            <p:cNvPr name="TextBox 72" id="72"/>
            <p:cNvSpPr txBox="true"/>
            <p:nvPr/>
          </p:nvSpPr>
          <p:spPr>
            <a:xfrm>
              <a:off x="0" y="-38100"/>
              <a:ext cx="3364992" cy="3695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 ML models trained on 80% data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Random Forest selected as final model</a:t>
              </a:r>
            </a:p>
          </p:txBody>
        </p:sp>
      </p:grpSp>
      <p:grpSp>
        <p:nvGrpSpPr>
          <p:cNvPr name="Group 73" id="73"/>
          <p:cNvGrpSpPr/>
          <p:nvPr/>
        </p:nvGrpSpPr>
        <p:grpSpPr>
          <a:xfrm rot="0">
            <a:off x="11989813" y="3174997"/>
            <a:ext cx="690877" cy="50797"/>
            <a:chOff x="0" y="0"/>
            <a:chExt cx="921169" cy="67729"/>
          </a:xfrm>
        </p:grpSpPr>
        <p:sp>
          <p:nvSpPr>
            <p:cNvPr name="Freeform 74" id="74"/>
            <p:cNvSpPr/>
            <p:nvPr/>
          </p:nvSpPr>
          <p:spPr>
            <a:xfrm flipH="false" flipV="false" rot="0">
              <a:off x="33909" y="0"/>
              <a:ext cx="853440" cy="67691"/>
            </a:xfrm>
            <a:custGeom>
              <a:avLst/>
              <a:gdLst/>
              <a:ahLst/>
              <a:cxnLst/>
              <a:rect r="r" b="b" t="t" l="l"/>
              <a:pathLst>
                <a:path h="67691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75" id="75"/>
          <p:cNvGrpSpPr/>
          <p:nvPr/>
        </p:nvGrpSpPr>
        <p:grpSpPr>
          <a:xfrm rot="0">
            <a:off x="12289536" y="1554480"/>
            <a:ext cx="2706624" cy="6949440"/>
            <a:chOff x="0" y="0"/>
            <a:chExt cx="3608832" cy="926592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3608832" cy="9265920"/>
            </a:xfrm>
            <a:custGeom>
              <a:avLst/>
              <a:gdLst/>
              <a:ahLst/>
              <a:cxnLst/>
              <a:rect r="r" b="b" t="t" l="l"/>
              <a:pathLst>
                <a:path h="9265920" w="3608832">
                  <a:moveTo>
                    <a:pt x="0" y="0"/>
                  </a:moveTo>
                  <a:lnTo>
                    <a:pt x="3608832" y="0"/>
                  </a:lnTo>
                  <a:lnTo>
                    <a:pt x="3608832" y="9265920"/>
                  </a:lnTo>
                  <a:lnTo>
                    <a:pt x="0" y="9265920"/>
                  </a:lnTo>
                  <a:close/>
                </a:path>
              </a:pathLst>
            </a:custGeom>
            <a:solidFill>
              <a:srgbClr val="D8F3DC"/>
            </a:solidFill>
          </p:spPr>
        </p:sp>
      </p:grpSp>
      <p:grpSp>
        <p:nvGrpSpPr>
          <p:cNvPr name="Group 77" id="77"/>
          <p:cNvGrpSpPr/>
          <p:nvPr/>
        </p:nvGrpSpPr>
        <p:grpSpPr>
          <a:xfrm rot="0">
            <a:off x="12276839" y="1541783"/>
            <a:ext cx="2732027" cy="939803"/>
            <a:chOff x="0" y="0"/>
            <a:chExt cx="3642703" cy="1253071"/>
          </a:xfrm>
        </p:grpSpPr>
        <p:sp>
          <p:nvSpPr>
            <p:cNvPr name="Freeform 78" id="78"/>
            <p:cNvSpPr/>
            <p:nvPr/>
          </p:nvSpPr>
          <p:spPr>
            <a:xfrm flipH="false" flipV="false" rot="0">
              <a:off x="16891" y="16891"/>
              <a:ext cx="3608832" cy="1219200"/>
            </a:xfrm>
            <a:custGeom>
              <a:avLst/>
              <a:gdLst/>
              <a:ahLst/>
              <a:cxnLst/>
              <a:rect r="r" b="b" t="t" l="l"/>
              <a:pathLst>
                <a:path h="1219200" w="3608832">
                  <a:moveTo>
                    <a:pt x="0" y="0"/>
                  </a:moveTo>
                  <a:lnTo>
                    <a:pt x="3608832" y="0"/>
                  </a:lnTo>
                  <a:lnTo>
                    <a:pt x="3608832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B4332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0" y="0"/>
              <a:ext cx="3642614" cy="1252984"/>
            </a:xfrm>
            <a:custGeom>
              <a:avLst/>
              <a:gdLst/>
              <a:ahLst/>
              <a:cxnLst/>
              <a:rect r="r" b="b" t="t" l="l"/>
              <a:pathLst>
                <a:path h="1252984" w="3642614">
                  <a:moveTo>
                    <a:pt x="16891" y="0"/>
                  </a:moveTo>
                  <a:lnTo>
                    <a:pt x="3625723" y="0"/>
                  </a:lnTo>
                  <a:cubicBezTo>
                    <a:pt x="3635121" y="0"/>
                    <a:pt x="3642614" y="7620"/>
                    <a:pt x="3642614" y="16891"/>
                  </a:cubicBezTo>
                  <a:lnTo>
                    <a:pt x="3642614" y="1236091"/>
                  </a:lnTo>
                  <a:cubicBezTo>
                    <a:pt x="3642614" y="1245489"/>
                    <a:pt x="3634994" y="1252982"/>
                    <a:pt x="3625723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3625723" y="1219200"/>
                  </a:lnTo>
                  <a:lnTo>
                    <a:pt x="3625723" y="1236091"/>
                  </a:lnTo>
                  <a:lnTo>
                    <a:pt x="3608832" y="1236091"/>
                  </a:lnTo>
                  <a:lnTo>
                    <a:pt x="3608832" y="16891"/>
                  </a:lnTo>
                  <a:lnTo>
                    <a:pt x="3625723" y="16891"/>
                  </a:lnTo>
                  <a:lnTo>
                    <a:pt x="362572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80" id="80"/>
          <p:cNvGrpSpPr/>
          <p:nvPr/>
        </p:nvGrpSpPr>
        <p:grpSpPr>
          <a:xfrm rot="0">
            <a:off x="12380976" y="1609344"/>
            <a:ext cx="2523744" cy="457200"/>
            <a:chOff x="0" y="0"/>
            <a:chExt cx="3364992" cy="609600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3364992" cy="609600"/>
            </a:xfrm>
            <a:custGeom>
              <a:avLst/>
              <a:gdLst/>
              <a:ahLst/>
              <a:cxnLst/>
              <a:rect r="r" b="b" t="t" l="l"/>
              <a:pathLst>
                <a:path h="60960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557" r="0" b="-57557"/>
              </a:stretch>
            </a:blipFill>
          </p:spPr>
        </p:sp>
        <p:sp>
          <p:nvSpPr>
            <p:cNvPr name="TextBox 82" id="82"/>
            <p:cNvSpPr txBox="true"/>
            <p:nvPr/>
          </p:nvSpPr>
          <p:spPr>
            <a:xfrm>
              <a:off x="0" y="-38100"/>
              <a:ext cx="3364992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E9C46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5</a:t>
              </a:r>
            </a:p>
          </p:txBody>
        </p:sp>
      </p:grpSp>
      <p:grpSp>
        <p:nvGrpSpPr>
          <p:cNvPr name="Group 83" id="83"/>
          <p:cNvGrpSpPr/>
          <p:nvPr/>
        </p:nvGrpSpPr>
        <p:grpSpPr>
          <a:xfrm rot="0">
            <a:off x="12380976" y="2560320"/>
            <a:ext cx="2523744" cy="1005840"/>
            <a:chOff x="0" y="0"/>
            <a:chExt cx="3364992" cy="1341120"/>
          </a:xfrm>
        </p:grpSpPr>
        <p:sp>
          <p:nvSpPr>
            <p:cNvPr name="Freeform 84" id="84"/>
            <p:cNvSpPr/>
            <p:nvPr/>
          </p:nvSpPr>
          <p:spPr>
            <a:xfrm flipH="false" flipV="false" rot="0">
              <a:off x="0" y="0"/>
              <a:ext cx="3364992" cy="1341120"/>
            </a:xfrm>
            <a:custGeom>
              <a:avLst/>
              <a:gdLst/>
              <a:ahLst/>
              <a:cxnLst/>
              <a:rect r="r" b="b" t="t" l="l"/>
              <a:pathLst>
                <a:path h="134112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35" t="0" r="-1135" b="0"/>
              </a:stretch>
            </a:blipFill>
          </p:spPr>
        </p:sp>
        <p:sp>
          <p:nvSpPr>
            <p:cNvPr name="TextBox 85" id="85"/>
            <p:cNvSpPr txBox="true"/>
            <p:nvPr/>
          </p:nvSpPr>
          <p:spPr>
            <a:xfrm>
              <a:off x="0" y="-38100"/>
              <a:ext cx="3364992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1B4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Prediction</a:t>
              </a:r>
            </a:p>
          </p:txBody>
        </p:sp>
      </p:grpSp>
      <p:grpSp>
        <p:nvGrpSpPr>
          <p:cNvPr name="Group 86" id="86"/>
          <p:cNvGrpSpPr/>
          <p:nvPr/>
        </p:nvGrpSpPr>
        <p:grpSpPr>
          <a:xfrm rot="0">
            <a:off x="12380976" y="3657600"/>
            <a:ext cx="2523744" cy="2743200"/>
            <a:chOff x="0" y="0"/>
            <a:chExt cx="3364992" cy="3657600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3364992" cy="3657600"/>
            </a:xfrm>
            <a:custGeom>
              <a:avLst/>
              <a:gdLst/>
              <a:ahLst/>
              <a:cxnLst/>
              <a:rect r="r" b="b" t="t" l="l"/>
              <a:pathLst>
                <a:path h="365760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9460" t="0" r="-89460" b="0"/>
              </a:stretch>
            </a:blipFill>
          </p:spPr>
        </p:sp>
        <p:sp>
          <p:nvSpPr>
            <p:cNvPr name="TextBox 88" id="88"/>
            <p:cNvSpPr txBox="true"/>
            <p:nvPr/>
          </p:nvSpPr>
          <p:spPr>
            <a:xfrm>
              <a:off x="0" y="-38100"/>
              <a:ext cx="3364992" cy="3695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Predicts Stress Level: Low / Mild / High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for new incoming weather data</a:t>
              </a:r>
            </a:p>
          </p:txBody>
        </p:sp>
      </p:grpSp>
      <p:grpSp>
        <p:nvGrpSpPr>
          <p:cNvPr name="Group 89" id="89"/>
          <p:cNvGrpSpPr/>
          <p:nvPr/>
        </p:nvGrpSpPr>
        <p:grpSpPr>
          <a:xfrm rot="0">
            <a:off x="14970757" y="3174997"/>
            <a:ext cx="690877" cy="50797"/>
            <a:chOff x="0" y="0"/>
            <a:chExt cx="921169" cy="67729"/>
          </a:xfrm>
        </p:grpSpPr>
        <p:sp>
          <p:nvSpPr>
            <p:cNvPr name="Freeform 90" id="90"/>
            <p:cNvSpPr/>
            <p:nvPr/>
          </p:nvSpPr>
          <p:spPr>
            <a:xfrm flipH="false" flipV="false" rot="0">
              <a:off x="33909" y="0"/>
              <a:ext cx="853440" cy="67691"/>
            </a:xfrm>
            <a:custGeom>
              <a:avLst/>
              <a:gdLst/>
              <a:ahLst/>
              <a:cxnLst/>
              <a:rect r="r" b="b" t="t" l="l"/>
              <a:pathLst>
                <a:path h="67691" w="853440">
                  <a:moveTo>
                    <a:pt x="0" y="0"/>
                  </a:moveTo>
                  <a:lnTo>
                    <a:pt x="853440" y="0"/>
                  </a:lnTo>
                  <a:lnTo>
                    <a:pt x="853440" y="67691"/>
                  </a:lnTo>
                  <a:lnTo>
                    <a:pt x="0" y="67691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91" id="91"/>
          <p:cNvGrpSpPr/>
          <p:nvPr/>
        </p:nvGrpSpPr>
        <p:grpSpPr>
          <a:xfrm rot="0">
            <a:off x="15270480" y="1554480"/>
            <a:ext cx="2706624" cy="6949440"/>
            <a:chOff x="0" y="0"/>
            <a:chExt cx="3608832" cy="9265920"/>
          </a:xfrm>
        </p:grpSpPr>
        <p:sp>
          <p:nvSpPr>
            <p:cNvPr name="Freeform 92" id="92"/>
            <p:cNvSpPr/>
            <p:nvPr/>
          </p:nvSpPr>
          <p:spPr>
            <a:xfrm flipH="false" flipV="false" rot="0">
              <a:off x="0" y="0"/>
              <a:ext cx="3608832" cy="9265920"/>
            </a:xfrm>
            <a:custGeom>
              <a:avLst/>
              <a:gdLst/>
              <a:ahLst/>
              <a:cxnLst/>
              <a:rect r="r" b="b" t="t" l="l"/>
              <a:pathLst>
                <a:path h="9265920" w="3608832">
                  <a:moveTo>
                    <a:pt x="0" y="0"/>
                  </a:moveTo>
                  <a:lnTo>
                    <a:pt x="3608832" y="0"/>
                  </a:lnTo>
                  <a:lnTo>
                    <a:pt x="3608832" y="9265920"/>
                  </a:lnTo>
                  <a:lnTo>
                    <a:pt x="0" y="9265920"/>
                  </a:lnTo>
                  <a:close/>
                </a:path>
              </a:pathLst>
            </a:custGeom>
            <a:solidFill>
              <a:srgbClr val="E8F5E9"/>
            </a:solidFill>
          </p:spPr>
        </p:sp>
      </p:grpSp>
      <p:grpSp>
        <p:nvGrpSpPr>
          <p:cNvPr name="Group 93" id="93"/>
          <p:cNvGrpSpPr/>
          <p:nvPr/>
        </p:nvGrpSpPr>
        <p:grpSpPr>
          <a:xfrm rot="0">
            <a:off x="15257783" y="1541783"/>
            <a:ext cx="2732027" cy="939803"/>
            <a:chOff x="0" y="0"/>
            <a:chExt cx="3642703" cy="1253071"/>
          </a:xfrm>
        </p:grpSpPr>
        <p:sp>
          <p:nvSpPr>
            <p:cNvPr name="Freeform 94" id="94"/>
            <p:cNvSpPr/>
            <p:nvPr/>
          </p:nvSpPr>
          <p:spPr>
            <a:xfrm flipH="false" flipV="false" rot="0">
              <a:off x="16891" y="16891"/>
              <a:ext cx="3608832" cy="1219200"/>
            </a:xfrm>
            <a:custGeom>
              <a:avLst/>
              <a:gdLst/>
              <a:ahLst/>
              <a:cxnLst/>
              <a:rect r="r" b="b" t="t" l="l"/>
              <a:pathLst>
                <a:path h="1219200" w="3608832">
                  <a:moveTo>
                    <a:pt x="0" y="0"/>
                  </a:moveTo>
                  <a:lnTo>
                    <a:pt x="3608832" y="0"/>
                  </a:lnTo>
                  <a:lnTo>
                    <a:pt x="3608832" y="1219200"/>
                  </a:lnTo>
                  <a:lnTo>
                    <a:pt x="0" y="1219200"/>
                  </a:lnTo>
                  <a:close/>
                </a:path>
              </a:pathLst>
            </a:custGeom>
            <a:solidFill>
              <a:srgbClr val="1B4332"/>
            </a:solidFill>
          </p:spPr>
        </p:sp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3642614" cy="1252984"/>
            </a:xfrm>
            <a:custGeom>
              <a:avLst/>
              <a:gdLst/>
              <a:ahLst/>
              <a:cxnLst/>
              <a:rect r="r" b="b" t="t" l="l"/>
              <a:pathLst>
                <a:path h="1252984" w="3642614">
                  <a:moveTo>
                    <a:pt x="16891" y="0"/>
                  </a:moveTo>
                  <a:lnTo>
                    <a:pt x="3625723" y="0"/>
                  </a:lnTo>
                  <a:cubicBezTo>
                    <a:pt x="3635121" y="0"/>
                    <a:pt x="3642614" y="7620"/>
                    <a:pt x="3642614" y="16891"/>
                  </a:cubicBezTo>
                  <a:lnTo>
                    <a:pt x="3642614" y="1236091"/>
                  </a:lnTo>
                  <a:cubicBezTo>
                    <a:pt x="3642614" y="1245489"/>
                    <a:pt x="3634994" y="1252982"/>
                    <a:pt x="3625723" y="1252982"/>
                  </a:cubicBezTo>
                  <a:lnTo>
                    <a:pt x="16891" y="1252982"/>
                  </a:lnTo>
                  <a:cubicBezTo>
                    <a:pt x="7620" y="1253109"/>
                    <a:pt x="0" y="1245489"/>
                    <a:pt x="0" y="123609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236091"/>
                  </a:lnTo>
                  <a:lnTo>
                    <a:pt x="16891" y="1236091"/>
                  </a:lnTo>
                  <a:lnTo>
                    <a:pt x="16891" y="1219200"/>
                  </a:lnTo>
                  <a:lnTo>
                    <a:pt x="3625723" y="1219200"/>
                  </a:lnTo>
                  <a:lnTo>
                    <a:pt x="3625723" y="1236091"/>
                  </a:lnTo>
                  <a:lnTo>
                    <a:pt x="3608832" y="1236091"/>
                  </a:lnTo>
                  <a:lnTo>
                    <a:pt x="3608832" y="16891"/>
                  </a:lnTo>
                  <a:lnTo>
                    <a:pt x="3625723" y="16891"/>
                  </a:lnTo>
                  <a:lnTo>
                    <a:pt x="362572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15361920" y="1609344"/>
            <a:ext cx="2523744" cy="457200"/>
            <a:chOff x="0" y="0"/>
            <a:chExt cx="3364992" cy="6096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3364992" cy="609600"/>
            </a:xfrm>
            <a:custGeom>
              <a:avLst/>
              <a:gdLst/>
              <a:ahLst/>
              <a:cxnLst/>
              <a:rect r="r" b="b" t="t" l="l"/>
              <a:pathLst>
                <a:path h="60960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609600"/>
                  </a:lnTo>
                  <a:lnTo>
                    <a:pt x="0" y="609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557" r="0" b="-57557"/>
              </a:stretch>
            </a:blip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38100"/>
              <a:ext cx="3364992" cy="647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b="true">
                  <a:solidFill>
                    <a:srgbClr val="E9C46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STEP 6</a:t>
              </a:r>
            </a:p>
          </p:txBody>
        </p:sp>
      </p:grpSp>
      <p:grpSp>
        <p:nvGrpSpPr>
          <p:cNvPr name="Group 99" id="99"/>
          <p:cNvGrpSpPr/>
          <p:nvPr/>
        </p:nvGrpSpPr>
        <p:grpSpPr>
          <a:xfrm rot="0">
            <a:off x="15361920" y="2560320"/>
            <a:ext cx="2523744" cy="1005840"/>
            <a:chOff x="0" y="0"/>
            <a:chExt cx="3364992" cy="1341120"/>
          </a:xfrm>
        </p:grpSpPr>
        <p:sp>
          <p:nvSpPr>
            <p:cNvPr name="Freeform 100" id="100"/>
            <p:cNvSpPr/>
            <p:nvPr/>
          </p:nvSpPr>
          <p:spPr>
            <a:xfrm flipH="false" flipV="false" rot="0">
              <a:off x="0" y="0"/>
              <a:ext cx="3364992" cy="1341120"/>
            </a:xfrm>
            <a:custGeom>
              <a:avLst/>
              <a:gdLst/>
              <a:ahLst/>
              <a:cxnLst/>
              <a:rect r="r" b="b" t="t" l="l"/>
              <a:pathLst>
                <a:path h="134112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135" t="0" r="-1135" b="0"/>
              </a:stretch>
            </a:blipFill>
          </p:spPr>
        </p:sp>
        <p:sp>
          <p:nvSpPr>
            <p:cNvPr name="TextBox 101" id="101"/>
            <p:cNvSpPr txBox="true"/>
            <p:nvPr/>
          </p:nvSpPr>
          <p:spPr>
            <a:xfrm>
              <a:off x="0" y="-38100"/>
              <a:ext cx="3364992" cy="13792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400"/>
                </a:lnSpc>
              </a:pPr>
              <a:r>
                <a:rPr lang="en-US" sz="2000" b="true">
                  <a:solidFill>
                    <a:srgbClr val="1B4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Alert &amp; Visualization</a:t>
              </a:r>
            </a:p>
          </p:txBody>
        </p:sp>
      </p:grpSp>
      <p:grpSp>
        <p:nvGrpSpPr>
          <p:cNvPr name="Group 102" id="102"/>
          <p:cNvGrpSpPr/>
          <p:nvPr/>
        </p:nvGrpSpPr>
        <p:grpSpPr>
          <a:xfrm rot="0">
            <a:off x="15361920" y="3657600"/>
            <a:ext cx="2523744" cy="2743200"/>
            <a:chOff x="0" y="0"/>
            <a:chExt cx="3364992" cy="3657600"/>
          </a:xfrm>
        </p:grpSpPr>
        <p:sp>
          <p:nvSpPr>
            <p:cNvPr name="Freeform 103" id="103"/>
            <p:cNvSpPr/>
            <p:nvPr/>
          </p:nvSpPr>
          <p:spPr>
            <a:xfrm flipH="false" flipV="false" rot="0">
              <a:off x="0" y="0"/>
              <a:ext cx="3364992" cy="3657600"/>
            </a:xfrm>
            <a:custGeom>
              <a:avLst/>
              <a:gdLst/>
              <a:ahLst/>
              <a:cxnLst/>
              <a:rect r="r" b="b" t="t" l="l"/>
              <a:pathLst>
                <a:path h="3657600" w="3364992">
                  <a:moveTo>
                    <a:pt x="0" y="0"/>
                  </a:moveTo>
                  <a:lnTo>
                    <a:pt x="3364992" y="0"/>
                  </a:lnTo>
                  <a:lnTo>
                    <a:pt x="3364992" y="3657600"/>
                  </a:lnTo>
                  <a:lnTo>
                    <a:pt x="0" y="36576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9460" t="0" r="-89460" b="0"/>
              </a:stretch>
            </a:blipFill>
          </p:spPr>
        </p:sp>
        <p:sp>
          <p:nvSpPr>
            <p:cNvPr name="TextBox 104" id="104"/>
            <p:cNvSpPr txBox="true"/>
            <p:nvPr/>
          </p:nvSpPr>
          <p:spPr>
            <a:xfrm>
              <a:off x="0" y="-38100"/>
              <a:ext cx="3364992" cy="369570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15 graphs generated</a:t>
              </a:r>
            </a:p>
            <a:p>
              <a:pPr algn="ctr">
                <a:lnSpc>
                  <a:spcPts val="2160"/>
                </a:lnSpc>
              </a:pPr>
              <a:r>
                <a:rPr lang="en-US" sz="18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Farmer receives actionable recommendation</a:t>
              </a:r>
            </a:p>
          </p:txBody>
        </p:sp>
      </p:grpSp>
      <p:grpSp>
        <p:nvGrpSpPr>
          <p:cNvPr name="Group 105" id="105"/>
          <p:cNvGrpSpPr/>
          <p:nvPr/>
        </p:nvGrpSpPr>
        <p:grpSpPr>
          <a:xfrm rot="0">
            <a:off x="457200" y="8814816"/>
            <a:ext cx="7315200" cy="475488"/>
            <a:chOff x="0" y="0"/>
            <a:chExt cx="9753600" cy="633984"/>
          </a:xfrm>
        </p:grpSpPr>
        <p:sp>
          <p:nvSpPr>
            <p:cNvPr name="Freeform 106" id="106"/>
            <p:cNvSpPr/>
            <p:nvPr/>
          </p:nvSpPr>
          <p:spPr>
            <a:xfrm flipH="false" flipV="false" rot="0">
              <a:off x="0" y="0"/>
              <a:ext cx="9753600" cy="633984"/>
            </a:xfrm>
            <a:custGeom>
              <a:avLst/>
              <a:gdLst/>
              <a:ahLst/>
              <a:cxnLst/>
              <a:rect r="r" b="b" t="t" l="l"/>
              <a:pathLst>
                <a:path h="633984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49769" r="0" b="-249769"/>
              </a:stretch>
            </a:blipFill>
          </p:spPr>
        </p:sp>
        <p:sp>
          <p:nvSpPr>
            <p:cNvPr name="TextBox 107" id="107"/>
            <p:cNvSpPr txBox="true"/>
            <p:nvPr/>
          </p:nvSpPr>
          <p:spPr>
            <a:xfrm>
              <a:off x="0" y="-47625"/>
              <a:ext cx="9753600" cy="68160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B4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System Actors &amp; Use Cases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B433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71707" cy="10312403"/>
            <a:chOff x="0" y="0"/>
            <a:chExt cx="228943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19507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E9C46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85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3732890"/>
                  </a:lnTo>
                  <a:cubicBezTo>
                    <a:pt x="228854" y="13742290"/>
                    <a:pt x="221234" y="13749782"/>
                    <a:pt x="2119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11963" y="13716000"/>
                  </a:lnTo>
                  <a:lnTo>
                    <a:pt x="211963" y="13732890"/>
                  </a:lnTo>
                  <a:lnTo>
                    <a:pt x="195072" y="13732890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9C46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57200" y="256032"/>
            <a:ext cx="16459200" cy="804672"/>
            <a:chOff x="0" y="0"/>
            <a:chExt cx="21945600" cy="10728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8557" r="0" b="-34855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0"/>
              <a:ext cx="21945600" cy="107289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079"/>
                </a:lnSpc>
              </a:pPr>
              <a:r>
                <a:rPr lang="en-US" sz="3400" b="true">
                  <a:solidFill>
                    <a:srgbClr val="F8F9F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12</a:t>
              </a:r>
              <a:r>
                <a:rPr lang="en-US" sz="3400" b="true">
                  <a:solidFill>
                    <a:srgbClr val="F8F9F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  |  Base Paper Visualization — Temperature vs. Crop Yield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424160" y="1554480"/>
            <a:ext cx="7406640" cy="8046720"/>
            <a:chOff x="0" y="0"/>
            <a:chExt cx="9875520" cy="107289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875520" cy="10728960"/>
            </a:xfrm>
            <a:custGeom>
              <a:avLst/>
              <a:gdLst/>
              <a:ahLst/>
              <a:cxnLst/>
              <a:rect r="r" b="b" t="t" l="l"/>
              <a:pathLst>
                <a:path h="1072896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10728960"/>
                  </a:lnTo>
                  <a:lnTo>
                    <a:pt x="0" y="10728960"/>
                  </a:lnTo>
                  <a:close/>
                </a:path>
              </a:pathLst>
            </a:custGeom>
            <a:solidFill>
              <a:srgbClr val="D8F3DC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0411463" y="1541783"/>
            <a:ext cx="7432043" cy="756923"/>
            <a:chOff x="0" y="0"/>
            <a:chExt cx="9909391" cy="100923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9875520" cy="975360"/>
            </a:xfrm>
            <a:custGeom>
              <a:avLst/>
              <a:gdLst/>
              <a:ahLst/>
              <a:cxnLst/>
              <a:rect r="r" b="b" t="t" l="l"/>
              <a:pathLst>
                <a:path h="975360" w="9875520">
                  <a:moveTo>
                    <a:pt x="0" y="0"/>
                  </a:moveTo>
                  <a:lnTo>
                    <a:pt x="9875520" y="0"/>
                  </a:lnTo>
                  <a:lnTo>
                    <a:pt x="987552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909301" cy="1009144"/>
            </a:xfrm>
            <a:custGeom>
              <a:avLst/>
              <a:gdLst/>
              <a:ahLst/>
              <a:cxnLst/>
              <a:rect r="r" b="b" t="t" l="l"/>
              <a:pathLst>
                <a:path h="1009144" w="9909301">
                  <a:moveTo>
                    <a:pt x="16891" y="0"/>
                  </a:moveTo>
                  <a:lnTo>
                    <a:pt x="9892411" y="0"/>
                  </a:lnTo>
                  <a:cubicBezTo>
                    <a:pt x="9901809" y="0"/>
                    <a:pt x="9909301" y="7620"/>
                    <a:pt x="9909301" y="16891"/>
                  </a:cubicBezTo>
                  <a:lnTo>
                    <a:pt x="9909301" y="992251"/>
                  </a:lnTo>
                  <a:cubicBezTo>
                    <a:pt x="9909301" y="1001649"/>
                    <a:pt x="9901682" y="1009142"/>
                    <a:pt x="989241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9892411" y="975360"/>
                  </a:lnTo>
                  <a:lnTo>
                    <a:pt x="9892411" y="992251"/>
                  </a:lnTo>
                  <a:lnTo>
                    <a:pt x="9875520" y="992251"/>
                  </a:lnTo>
                  <a:lnTo>
                    <a:pt x="9875520" y="16891"/>
                  </a:lnTo>
                  <a:lnTo>
                    <a:pt x="9892411" y="16891"/>
                  </a:lnTo>
                  <a:lnTo>
                    <a:pt x="98924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0643616" y="1609344"/>
            <a:ext cx="6986016" cy="548640"/>
            <a:chOff x="0" y="0"/>
            <a:chExt cx="9314688" cy="73152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314688" cy="731520"/>
            </a:xfrm>
            <a:custGeom>
              <a:avLst/>
              <a:gdLst/>
              <a:ahLst/>
              <a:cxnLst/>
              <a:rect r="r" b="b" t="t" l="l"/>
              <a:pathLst>
                <a:path h="731520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8109" r="0" b="-198109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9314688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9C46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Observations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643616" y="2414016"/>
            <a:ext cx="6986016" cy="6766560"/>
            <a:chOff x="0" y="0"/>
            <a:chExt cx="9314688" cy="902208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9314688" cy="9022080"/>
            </a:xfrm>
            <a:custGeom>
              <a:avLst/>
              <a:gdLst/>
              <a:ahLst/>
              <a:cxnLst/>
              <a:rect r="r" b="b" t="t" l="l"/>
              <a:pathLst>
                <a:path h="9022080" w="9314688">
                  <a:moveTo>
                    <a:pt x="0" y="0"/>
                  </a:moveTo>
                  <a:lnTo>
                    <a:pt x="9314688" y="0"/>
                  </a:lnTo>
                  <a:lnTo>
                    <a:pt x="9314688" y="9022080"/>
                  </a:lnTo>
                  <a:lnTo>
                    <a:pt x="0" y="9022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4273" t="0" r="-74273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9314688" cy="90697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Rising temperature beyond ~28–30°C correlates with declining crop yield</a:t>
              </a:r>
            </a:p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Base paper used only 2 variables (temp + rainfall) — ~900 records</a:t>
              </a:r>
            </a:p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mechanism to classify severity or issue recommendations</a:t>
              </a:r>
            </a:p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Reactive approach — post-damage analysis only</a:t>
              </a:r>
            </a:p>
            <a:p>
              <a:pPr algn="l" marL="506730" indent="-253365" lvl="1">
                <a:lnSpc>
                  <a:spcPts val="2520"/>
                </a:lnSpc>
                <a:buFont typeface="Arial"/>
                <a:buChar char="•"/>
              </a:pPr>
              <a:r>
                <a:rPr lang="en-US" sz="21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Our study adds humidity + soil moisture → CSI formula for predictive alerts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36705" y="8166319"/>
            <a:ext cx="9509760" cy="512064"/>
            <a:chOff x="0" y="0"/>
            <a:chExt cx="12679680" cy="68275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2679680" cy="682752"/>
            </a:xfrm>
            <a:custGeom>
              <a:avLst/>
              <a:gdLst/>
              <a:ahLst/>
              <a:cxnLst/>
              <a:rect r="r" b="b" t="t" l="l"/>
              <a:pathLst>
                <a:path h="682752" w="12679680">
                  <a:moveTo>
                    <a:pt x="0" y="0"/>
                  </a:moveTo>
                  <a:lnTo>
                    <a:pt x="12679680" y="0"/>
                  </a:lnTo>
                  <a:lnTo>
                    <a:pt x="126796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11865" r="0" b="-311865"/>
              </a:stretch>
            </a:blip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126796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6B7C6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Figure 1: Base Paper — Temperature vs. Crop Yield (2000–2019) | Only 2 variables, ~900 records</a:t>
              </a: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209817" y="2414016"/>
            <a:ext cx="10163536" cy="5037960"/>
          </a:xfrm>
          <a:custGeom>
            <a:avLst/>
            <a:gdLst/>
            <a:ahLst/>
            <a:cxnLst/>
            <a:rect r="r" b="b" t="t" l="l"/>
            <a:pathLst>
              <a:path h="5037960" w="10163536">
                <a:moveTo>
                  <a:pt x="0" y="0"/>
                </a:moveTo>
                <a:lnTo>
                  <a:pt x="10163536" y="0"/>
                </a:lnTo>
                <a:lnTo>
                  <a:pt x="10163536" y="5037960"/>
                </a:lnTo>
                <a:lnTo>
                  <a:pt x="0" y="503796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71707" cy="10312403"/>
            <a:chOff x="0" y="0"/>
            <a:chExt cx="228943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19507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E9C46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85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3732890"/>
                  </a:lnTo>
                  <a:cubicBezTo>
                    <a:pt x="228854" y="13742290"/>
                    <a:pt x="221234" y="13749782"/>
                    <a:pt x="2119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11963" y="13716000"/>
                  </a:lnTo>
                  <a:lnTo>
                    <a:pt x="211963" y="13732890"/>
                  </a:lnTo>
                  <a:lnTo>
                    <a:pt x="195072" y="13732890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9C46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57200" y="256032"/>
            <a:ext cx="16459200" cy="804672"/>
            <a:chOff x="0" y="0"/>
            <a:chExt cx="21945600" cy="10728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8557" r="0" b="-34855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1945600" cy="1082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 b="true">
                  <a:solidFill>
                    <a:srgbClr val="F8F9F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13  |  Multi-Factor Stress by Crop Type (Novel Data)</a:t>
              </a:r>
            </a:p>
          </p:txBody>
        </p:sp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966850" y="471967"/>
            <a:ext cx="13648528" cy="9638938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 rot="0">
            <a:off x="12070080" y="1554480"/>
            <a:ext cx="5760720" cy="7315200"/>
            <a:chOff x="0" y="0"/>
            <a:chExt cx="7680960" cy="97536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7680960" cy="9753600"/>
            </a:xfrm>
            <a:custGeom>
              <a:avLst/>
              <a:gdLst/>
              <a:ahLst/>
              <a:cxnLst/>
              <a:rect r="r" b="b" t="t" l="l"/>
              <a:pathLst>
                <a:path h="975360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9753600"/>
                  </a:lnTo>
                  <a:lnTo>
                    <a:pt x="0" y="9753600"/>
                  </a:lnTo>
                  <a:close/>
                </a:path>
              </a:pathLst>
            </a:custGeom>
            <a:solidFill>
              <a:srgbClr val="D8F3DC"/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2057383" y="1541783"/>
            <a:ext cx="5786123" cy="756923"/>
            <a:chOff x="0" y="0"/>
            <a:chExt cx="7714831" cy="100923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16891" y="16891"/>
              <a:ext cx="7680960" cy="975360"/>
            </a:xfrm>
            <a:custGeom>
              <a:avLst/>
              <a:gdLst/>
              <a:ahLst/>
              <a:cxnLst/>
              <a:rect r="r" b="b" t="t" l="l"/>
              <a:pathLst>
                <a:path h="975360" w="7680960">
                  <a:moveTo>
                    <a:pt x="0" y="0"/>
                  </a:moveTo>
                  <a:lnTo>
                    <a:pt x="7680960" y="0"/>
                  </a:lnTo>
                  <a:lnTo>
                    <a:pt x="768096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1B4332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714742" cy="1009144"/>
            </a:xfrm>
            <a:custGeom>
              <a:avLst/>
              <a:gdLst/>
              <a:ahLst/>
              <a:cxnLst/>
              <a:rect r="r" b="b" t="t" l="l"/>
              <a:pathLst>
                <a:path h="1009144" w="7714742">
                  <a:moveTo>
                    <a:pt x="16891" y="0"/>
                  </a:moveTo>
                  <a:lnTo>
                    <a:pt x="7697851" y="0"/>
                  </a:lnTo>
                  <a:cubicBezTo>
                    <a:pt x="7707249" y="0"/>
                    <a:pt x="7714742" y="7620"/>
                    <a:pt x="7714742" y="16891"/>
                  </a:cubicBezTo>
                  <a:lnTo>
                    <a:pt x="7714742" y="992251"/>
                  </a:lnTo>
                  <a:cubicBezTo>
                    <a:pt x="7714742" y="1001649"/>
                    <a:pt x="7707122" y="1009142"/>
                    <a:pt x="769785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7697851" y="975360"/>
                  </a:lnTo>
                  <a:lnTo>
                    <a:pt x="7697851" y="992251"/>
                  </a:lnTo>
                  <a:lnTo>
                    <a:pt x="7680960" y="992251"/>
                  </a:lnTo>
                  <a:lnTo>
                    <a:pt x="7680960" y="16891"/>
                  </a:lnTo>
                  <a:lnTo>
                    <a:pt x="7697851" y="16891"/>
                  </a:lnTo>
                  <a:lnTo>
                    <a:pt x="769785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2289536" y="1609344"/>
            <a:ext cx="5394960" cy="548640"/>
            <a:chOff x="0" y="0"/>
            <a:chExt cx="7193280" cy="73152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93280" cy="731520"/>
            </a:xfrm>
            <a:custGeom>
              <a:avLst/>
              <a:gdLst/>
              <a:ahLst/>
              <a:cxnLst/>
              <a:rect r="r" b="b" t="t" l="l"/>
              <a:pathLst>
                <a:path h="73152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1602" r="0" b="-141602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719328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9C46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Graph Insights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2289536" y="2414016"/>
            <a:ext cx="5394960" cy="6035040"/>
            <a:chOff x="0" y="0"/>
            <a:chExt cx="7193280" cy="80467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193280" cy="8046720"/>
            </a:xfrm>
            <a:custGeom>
              <a:avLst/>
              <a:gdLst/>
              <a:ahLst/>
              <a:cxnLst/>
              <a:rect r="r" b="b" t="t" l="l"/>
              <a:pathLst>
                <a:path h="8046720" w="7193280">
                  <a:moveTo>
                    <a:pt x="0" y="0"/>
                  </a:moveTo>
                  <a:lnTo>
                    <a:pt x="7193280" y="0"/>
                  </a:lnTo>
                  <a:lnTo>
                    <a:pt x="7193280" y="8046720"/>
                  </a:lnTo>
                  <a:lnTo>
                    <a:pt x="0" y="80467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93526" t="0" r="-93526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38100"/>
              <a:ext cx="7193280" cy="808482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Cotton shows highest stress across all 3 factors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Sugarcane has lowest stress — more climate resilient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Maize shows high temp stress but lower humidity stress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Base paper showed only 1 factor — this shows 3 simultaneously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Farmers can target specific stressor for each crop type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571500" y="9258300"/>
            <a:ext cx="10972800" cy="512064"/>
            <a:chOff x="0" y="0"/>
            <a:chExt cx="14630400" cy="682752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630400" cy="682752"/>
            </a:xfrm>
            <a:custGeom>
              <a:avLst/>
              <a:gdLst/>
              <a:ahLst/>
              <a:cxnLst/>
              <a:rect r="r" b="b" t="t" l="l"/>
              <a:pathLst>
                <a:path h="682752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536" r="0" b="-367536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46304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6B7C6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Figure 9: Proposed Study — Temperature + Moisture + Humidity Stress across 5 crop types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1067916" y="8925902"/>
            <a:ext cx="515913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RICE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134719" y="8925902"/>
            <a:ext cx="184636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MAIZE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748201" y="8925902"/>
            <a:ext cx="184636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WHEAT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524006" y="8925902"/>
            <a:ext cx="184636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COTTON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821054" y="8925902"/>
            <a:ext cx="1846362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9"/>
              </a:lnSpc>
              <a:spcBef>
                <a:spcPct val="0"/>
              </a:spcBef>
            </a:pPr>
            <a:r>
              <a:rPr lang="en-US" b="true" sz="2199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SUGARCANE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B433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71707" cy="10312403"/>
            <a:chOff x="0" y="0"/>
            <a:chExt cx="228943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19507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E9C46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85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3732890"/>
                  </a:lnTo>
                  <a:cubicBezTo>
                    <a:pt x="228854" y="13742290"/>
                    <a:pt x="221234" y="13749782"/>
                    <a:pt x="2119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11963" y="13716000"/>
                  </a:lnTo>
                  <a:lnTo>
                    <a:pt x="211963" y="13732890"/>
                  </a:lnTo>
                  <a:lnTo>
                    <a:pt x="195072" y="13732890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9C46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57200" y="256032"/>
            <a:ext cx="16459200" cy="804672"/>
            <a:chOff x="0" y="0"/>
            <a:chExt cx="21945600" cy="10728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8557" r="0" b="-34855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1945600" cy="1082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 b="true">
                  <a:solidFill>
                    <a:srgbClr val="F8F9F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14  |  CSI Distribution &amp; Stress Level Distribution</a:t>
              </a:r>
            </a:p>
          </p:txBody>
        </p:sp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384048" y="713232"/>
            <a:ext cx="10094976" cy="6620256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187103" y="1368795"/>
            <a:ext cx="4573780" cy="5408411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626224" y="1353606"/>
            <a:ext cx="4587792" cy="542498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 rot="0">
            <a:off x="457200" y="6583680"/>
            <a:ext cx="17373600" cy="512064"/>
            <a:chOff x="0" y="0"/>
            <a:chExt cx="23164800" cy="68275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3164800" cy="682752"/>
            </a:xfrm>
            <a:custGeom>
              <a:avLst/>
              <a:gdLst/>
              <a:ahLst/>
              <a:cxnLst/>
              <a:rect r="r" b="b" t="t" l="l"/>
              <a:pathLst>
                <a:path h="682752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1099" r="0" b="-611099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31648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6B7C6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Figure 10: CSI histogram across 2,500 records | Figure 11: Stress distribution — base vs. proposed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444503" y="7156199"/>
            <a:ext cx="17399003" cy="116843"/>
            <a:chOff x="0" y="0"/>
            <a:chExt cx="23198671" cy="1557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23164799" cy="121920"/>
            </a:xfrm>
            <a:custGeom>
              <a:avLst/>
              <a:gdLst/>
              <a:ahLst/>
              <a:cxnLst/>
              <a:rect r="r" b="b" t="t" l="l"/>
              <a:pathLst>
                <a:path h="121920" w="23164799">
                  <a:moveTo>
                    <a:pt x="0" y="0"/>
                  </a:moveTo>
                  <a:lnTo>
                    <a:pt x="23164799" y="0"/>
                  </a:lnTo>
                  <a:lnTo>
                    <a:pt x="23164799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3198582" cy="155704"/>
            </a:xfrm>
            <a:custGeom>
              <a:avLst/>
              <a:gdLst/>
              <a:ahLst/>
              <a:cxnLst/>
              <a:rect r="r" b="b" t="t" l="l"/>
              <a:pathLst>
                <a:path h="155704" w="23198582">
                  <a:moveTo>
                    <a:pt x="16891" y="0"/>
                  </a:moveTo>
                  <a:lnTo>
                    <a:pt x="23181690" y="0"/>
                  </a:lnTo>
                  <a:cubicBezTo>
                    <a:pt x="23191090" y="0"/>
                    <a:pt x="23198582" y="7620"/>
                    <a:pt x="23198582" y="16891"/>
                  </a:cubicBezTo>
                  <a:lnTo>
                    <a:pt x="23198582" y="138811"/>
                  </a:lnTo>
                  <a:cubicBezTo>
                    <a:pt x="23198582" y="148209"/>
                    <a:pt x="23190963" y="155702"/>
                    <a:pt x="23181690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23181690" y="121920"/>
                  </a:lnTo>
                  <a:lnTo>
                    <a:pt x="23181690" y="138811"/>
                  </a:lnTo>
                  <a:lnTo>
                    <a:pt x="23164800" y="138811"/>
                  </a:lnTo>
                  <a:lnTo>
                    <a:pt x="23164800" y="16891"/>
                  </a:lnTo>
                  <a:lnTo>
                    <a:pt x="23181690" y="16891"/>
                  </a:lnTo>
                  <a:lnTo>
                    <a:pt x="231816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457200" y="7351776"/>
            <a:ext cx="17373600" cy="1097280"/>
            <a:chOff x="0" y="0"/>
            <a:chExt cx="23164800" cy="146304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31648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8513" r="0" b="-258513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2316480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1B4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Insight: </a:t>
              </a:r>
              <a:r>
                <a:rPr lang="en-US" sz="22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Many records fall in Mild-to-High stress range — confirming crop stress is common and needs early detection. </a:t>
              </a:r>
              <a:r>
                <a:rPr lang="en-US" sz="2200" i="true">
                  <a:solidFill>
                    <a:srgbClr val="1B2B1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Our 3-level classification gives farmers specific actionable guidance vs. the base paper's binary output.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0405928" y="3937002"/>
            <a:ext cx="3672378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60</a:t>
            </a:r>
            <a:r>
              <a:rPr lang="en-US" b="true" sz="18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%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490131" y="3937002"/>
            <a:ext cx="39513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40%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718831" y="3155952"/>
            <a:ext cx="39513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35%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081707" y="3155952"/>
            <a:ext cx="1846362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25%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5331789" y="4838700"/>
            <a:ext cx="395139" cy="304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 i="true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40%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71707" cy="10312403"/>
            <a:chOff x="0" y="0"/>
            <a:chExt cx="228943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19507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E9C46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85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3732890"/>
                  </a:lnTo>
                  <a:cubicBezTo>
                    <a:pt x="228854" y="13742290"/>
                    <a:pt x="221234" y="13749782"/>
                    <a:pt x="2119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11963" y="13716000"/>
                  </a:lnTo>
                  <a:lnTo>
                    <a:pt x="211963" y="13732890"/>
                  </a:lnTo>
                  <a:lnTo>
                    <a:pt x="195072" y="13732890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9C46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57200" y="256032"/>
            <a:ext cx="16459200" cy="804672"/>
            <a:chOff x="0" y="0"/>
            <a:chExt cx="21945600" cy="10728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8557" r="0" b="-34855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1945600" cy="1082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 b="true">
                  <a:solidFill>
                    <a:srgbClr val="F8F9F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15  |  Feature Importance &amp; Prediction Accuracy</a:t>
              </a:r>
            </a:p>
          </p:txBody>
        </p:sp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402336" y="694944"/>
            <a:ext cx="10314432" cy="8119872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 rot="0">
            <a:off x="457200" y="8046720"/>
            <a:ext cx="8595360" cy="512064"/>
            <a:chOff x="0" y="0"/>
            <a:chExt cx="11460480" cy="68275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1460480" cy="682752"/>
            </a:xfrm>
            <a:custGeom>
              <a:avLst/>
              <a:gdLst/>
              <a:ahLst/>
              <a:cxnLst/>
              <a:rect r="r" b="b" t="t" l="l"/>
              <a:pathLst>
                <a:path h="682752" w="11460480">
                  <a:moveTo>
                    <a:pt x="0" y="0"/>
                  </a:moveTo>
                  <a:lnTo>
                    <a:pt x="11460480" y="0"/>
                  </a:lnTo>
                  <a:lnTo>
                    <a:pt x="1146048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77070" r="0" b="-277070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146048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6B7C6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Figure 14: Temperature leads at 38%, Soil Moisture at 28%, Humidity 20%, Rainfall 9%</a:t>
              </a:r>
            </a:p>
          </p:txBody>
        </p:sp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8924832" y="922018"/>
            <a:ext cx="9490896" cy="7665724"/>
          </a:xfrm>
          <a:prstGeom prst="rect">
            <a:avLst/>
          </a:prstGeom>
        </p:spPr>
      </p:pic>
      <p:grpSp>
        <p:nvGrpSpPr>
          <p:cNvPr name="Group 16" id="16"/>
          <p:cNvGrpSpPr/>
          <p:nvPr/>
        </p:nvGrpSpPr>
        <p:grpSpPr>
          <a:xfrm rot="0">
            <a:off x="9509760" y="8046720"/>
            <a:ext cx="8321040" cy="512064"/>
            <a:chOff x="0" y="0"/>
            <a:chExt cx="11094720" cy="682752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1094720" cy="682752"/>
            </a:xfrm>
            <a:custGeom>
              <a:avLst/>
              <a:gdLst/>
              <a:ahLst/>
              <a:cxnLst/>
              <a:rect r="r" b="b" t="t" l="l"/>
              <a:pathLst>
                <a:path h="682752" w="11094720">
                  <a:moveTo>
                    <a:pt x="0" y="0"/>
                  </a:moveTo>
                  <a:lnTo>
                    <a:pt x="11094720" y="0"/>
                  </a:lnTo>
                  <a:lnTo>
                    <a:pt x="1109472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66631" r="0" b="-266631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1109472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6B7C6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Figure 12: Predicted values closely track actual CSI — Random Forest, 84% accuracy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457200" y="8741664"/>
            <a:ext cx="17373600" cy="1097280"/>
            <a:chOff x="0" y="0"/>
            <a:chExt cx="23164800" cy="14630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3164800" cy="1463040"/>
            </a:xfrm>
            <a:custGeom>
              <a:avLst/>
              <a:gdLst/>
              <a:ahLst/>
              <a:cxnLst/>
              <a:rect r="r" b="b" t="t" l="l"/>
              <a:pathLst>
                <a:path h="146304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463040"/>
                  </a:lnTo>
                  <a:lnTo>
                    <a:pt x="0" y="14630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58513" r="0" b="-258513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47625"/>
              <a:ext cx="23164800" cy="15106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Temperature (38%) is the dominant predictor of crop stress — followed by soil moisture (28%) and humidity (20%).  </a:t>
              </a:r>
              <a:r>
                <a:rPr lang="en-US" sz="2100" i="true">
                  <a:solidFill>
                    <a:srgbClr val="1B2B1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Rainfall ranks lowest (9%), consistent with agronomic understanding.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3330627" y="7320584"/>
            <a:ext cx="2584252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Georgia Bold"/>
                <a:ea typeface="Georgia Bold"/>
                <a:cs typeface="Georgia Bold"/>
                <a:sym typeface="Georgia Bold"/>
              </a:rPr>
              <a:t>Temperature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625809" y="5407038"/>
            <a:ext cx="212907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Soil Moisture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85661" y="3587763"/>
            <a:ext cx="1880295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Georgia Bold"/>
                <a:ea typeface="Georgia Bold"/>
                <a:cs typeface="Georgia Bold"/>
                <a:sym typeface="Georgia Bold"/>
              </a:rPr>
              <a:t>Humidity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24602" y="1693876"/>
            <a:ext cx="1567383" cy="476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00"/>
              </a:lnSpc>
              <a:spcBef>
                <a:spcPct val="0"/>
              </a:spcBef>
            </a:pPr>
            <a:r>
              <a:rPr lang="en-US" b="true" sz="3000">
                <a:solidFill>
                  <a:srgbClr val="FFFFFF"/>
                </a:solidFill>
                <a:latin typeface="Georgia Bold"/>
                <a:ea typeface="Georgia Bold"/>
                <a:cs typeface="Georgia Bold"/>
                <a:sym typeface="Georgia Bold"/>
              </a:rPr>
              <a:t>Rainfall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1B4332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1B4332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71707" cy="10312403"/>
            <a:chOff x="0" y="0"/>
            <a:chExt cx="228943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19507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E9C46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85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3732890"/>
                  </a:lnTo>
                  <a:cubicBezTo>
                    <a:pt x="228854" y="13742290"/>
                    <a:pt x="221234" y="13749782"/>
                    <a:pt x="2119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11963" y="13716000"/>
                  </a:lnTo>
                  <a:lnTo>
                    <a:pt x="211963" y="13732890"/>
                  </a:lnTo>
                  <a:lnTo>
                    <a:pt x="195072" y="13732890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9C46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57200" y="256032"/>
            <a:ext cx="16459200" cy="804672"/>
            <a:chOff x="0" y="0"/>
            <a:chExt cx="21945600" cy="10728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8557" r="0" b="-34855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1945600" cy="1082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 b="true">
                  <a:solidFill>
                    <a:srgbClr val="F8F9F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16  |  Results — Model Performance Comparison</a:t>
              </a:r>
            </a:p>
          </p:txBody>
        </p:sp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23436" y="765043"/>
            <a:ext cx="11640329" cy="776022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 rot="0">
            <a:off x="457200" y="8229600"/>
            <a:ext cx="10972800" cy="512064"/>
            <a:chOff x="0" y="0"/>
            <a:chExt cx="14630400" cy="68275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4630400" cy="682752"/>
            </a:xfrm>
            <a:custGeom>
              <a:avLst/>
              <a:gdLst/>
              <a:ahLst/>
              <a:cxnLst/>
              <a:rect r="r" b="b" t="t" l="l"/>
              <a:pathLst>
                <a:path h="682752" w="14630400">
                  <a:moveTo>
                    <a:pt x="0" y="0"/>
                  </a:moveTo>
                  <a:lnTo>
                    <a:pt x="14630400" y="0"/>
                  </a:lnTo>
                  <a:lnTo>
                    <a:pt x="146304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7536" r="0" b="-367536"/>
              </a:stretch>
            </a:blip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146304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160"/>
                </a:lnSpc>
              </a:pPr>
              <a:r>
                <a:rPr lang="en-US" sz="1800" i="true">
                  <a:solidFill>
                    <a:srgbClr val="6B7C6B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Figure 15: All three models show improved accuracy with our dataset + CSI feature engineering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1887200" y="1554480"/>
            <a:ext cx="5943600" cy="6949440"/>
            <a:chOff x="0" y="0"/>
            <a:chExt cx="7924800" cy="926592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7924800" cy="9265920"/>
            </a:xfrm>
            <a:custGeom>
              <a:avLst/>
              <a:gdLst/>
              <a:ahLst/>
              <a:cxnLst/>
              <a:rect r="r" b="b" t="t" l="l"/>
              <a:pathLst>
                <a:path h="9265920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9265920"/>
                  </a:lnTo>
                  <a:lnTo>
                    <a:pt x="0" y="9265920"/>
                  </a:lnTo>
                  <a:close/>
                </a:path>
              </a:pathLst>
            </a:custGeom>
            <a:solidFill>
              <a:srgbClr val="D8F3DC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11874503" y="1541783"/>
            <a:ext cx="5969003" cy="756923"/>
            <a:chOff x="0" y="0"/>
            <a:chExt cx="7958671" cy="100923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16891" y="16891"/>
              <a:ext cx="7924800" cy="975360"/>
            </a:xfrm>
            <a:custGeom>
              <a:avLst/>
              <a:gdLst/>
              <a:ahLst/>
              <a:cxnLst/>
              <a:rect r="r" b="b" t="t" l="l"/>
              <a:pathLst>
                <a:path h="975360" w="7924800">
                  <a:moveTo>
                    <a:pt x="0" y="0"/>
                  </a:moveTo>
                  <a:lnTo>
                    <a:pt x="7924800" y="0"/>
                  </a:lnTo>
                  <a:lnTo>
                    <a:pt x="7924800" y="975360"/>
                  </a:lnTo>
                  <a:lnTo>
                    <a:pt x="0" y="97536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958582" cy="1009144"/>
            </a:xfrm>
            <a:custGeom>
              <a:avLst/>
              <a:gdLst/>
              <a:ahLst/>
              <a:cxnLst/>
              <a:rect r="r" b="b" t="t" l="l"/>
              <a:pathLst>
                <a:path h="1009144" w="7958582">
                  <a:moveTo>
                    <a:pt x="16891" y="0"/>
                  </a:moveTo>
                  <a:lnTo>
                    <a:pt x="7941691" y="0"/>
                  </a:lnTo>
                  <a:cubicBezTo>
                    <a:pt x="7951089" y="0"/>
                    <a:pt x="7958582" y="7620"/>
                    <a:pt x="7958582" y="16891"/>
                  </a:cubicBezTo>
                  <a:lnTo>
                    <a:pt x="7958582" y="992251"/>
                  </a:lnTo>
                  <a:cubicBezTo>
                    <a:pt x="7958582" y="1001649"/>
                    <a:pt x="7950962" y="1009142"/>
                    <a:pt x="7941691" y="1009142"/>
                  </a:cubicBezTo>
                  <a:lnTo>
                    <a:pt x="16891" y="1009142"/>
                  </a:lnTo>
                  <a:cubicBezTo>
                    <a:pt x="7620" y="1009269"/>
                    <a:pt x="0" y="1001649"/>
                    <a:pt x="0" y="99225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992251"/>
                  </a:lnTo>
                  <a:lnTo>
                    <a:pt x="16891" y="992251"/>
                  </a:lnTo>
                  <a:lnTo>
                    <a:pt x="16891" y="975360"/>
                  </a:lnTo>
                  <a:lnTo>
                    <a:pt x="7941691" y="975360"/>
                  </a:lnTo>
                  <a:lnTo>
                    <a:pt x="7941691" y="992251"/>
                  </a:lnTo>
                  <a:lnTo>
                    <a:pt x="7924800" y="992251"/>
                  </a:lnTo>
                  <a:lnTo>
                    <a:pt x="7924800" y="16891"/>
                  </a:lnTo>
                  <a:lnTo>
                    <a:pt x="7941691" y="16891"/>
                  </a:lnTo>
                  <a:lnTo>
                    <a:pt x="794169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12106656" y="1609344"/>
            <a:ext cx="5577840" cy="548640"/>
            <a:chOff x="0" y="0"/>
            <a:chExt cx="7437120" cy="73152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7437120" cy="731520"/>
            </a:xfrm>
            <a:custGeom>
              <a:avLst/>
              <a:gdLst/>
              <a:ahLst/>
              <a:cxnLst/>
              <a:rect r="r" b="b" t="t" l="l"/>
              <a:pathLst>
                <a:path h="73152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731520"/>
                  </a:lnTo>
                  <a:lnTo>
                    <a:pt x="0" y="73152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8097" r="0" b="-148097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47625"/>
              <a:ext cx="7437120" cy="77914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40"/>
                </a:lnSpc>
              </a:pPr>
              <a:r>
                <a:rPr lang="en-US" sz="2200" b="true">
                  <a:solidFill>
                    <a:srgbClr val="E9C46A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Findings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2106656" y="2468880"/>
            <a:ext cx="5577840" cy="5852160"/>
            <a:chOff x="0" y="0"/>
            <a:chExt cx="7437120" cy="780288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437120" cy="7802880"/>
            </a:xfrm>
            <a:custGeom>
              <a:avLst/>
              <a:gdLst/>
              <a:ahLst/>
              <a:cxnLst/>
              <a:rect r="r" b="b" t="t" l="l"/>
              <a:pathLst>
                <a:path h="7802880" w="7437120">
                  <a:moveTo>
                    <a:pt x="0" y="0"/>
                  </a:moveTo>
                  <a:lnTo>
                    <a:pt x="7437120" y="0"/>
                  </a:lnTo>
                  <a:lnTo>
                    <a:pt x="7437120" y="7802880"/>
                  </a:lnTo>
                  <a:lnTo>
                    <a:pt x="0" y="78028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84613" t="0" r="-84613" b="0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7437120" cy="78409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Random Forest: 84% — best performing model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Adding soil moisture + humidity → +4–12% accuracy gain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CSI converts complex data into intuitive 0–100 score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3-level classification is more actionable than yield prediction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AI-guided irrigation → 25–30% water savings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Reduced pesticide/fertilizer → lower carbon emissions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444503" y="8856983"/>
            <a:ext cx="17399003" cy="116843"/>
            <a:chOff x="0" y="0"/>
            <a:chExt cx="23198671" cy="155791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16891" y="16891"/>
              <a:ext cx="23164799" cy="121920"/>
            </a:xfrm>
            <a:custGeom>
              <a:avLst/>
              <a:gdLst/>
              <a:ahLst/>
              <a:cxnLst/>
              <a:rect r="r" b="b" t="t" l="l"/>
              <a:pathLst>
                <a:path h="121920" w="23164799">
                  <a:moveTo>
                    <a:pt x="0" y="0"/>
                  </a:moveTo>
                  <a:lnTo>
                    <a:pt x="23164799" y="0"/>
                  </a:lnTo>
                  <a:lnTo>
                    <a:pt x="23164799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3198582" cy="155704"/>
            </a:xfrm>
            <a:custGeom>
              <a:avLst/>
              <a:gdLst/>
              <a:ahLst/>
              <a:cxnLst/>
              <a:rect r="r" b="b" t="t" l="l"/>
              <a:pathLst>
                <a:path h="155704" w="23198582">
                  <a:moveTo>
                    <a:pt x="16891" y="0"/>
                  </a:moveTo>
                  <a:lnTo>
                    <a:pt x="23181690" y="0"/>
                  </a:lnTo>
                  <a:cubicBezTo>
                    <a:pt x="23191090" y="0"/>
                    <a:pt x="23198582" y="7620"/>
                    <a:pt x="23198582" y="16891"/>
                  </a:cubicBezTo>
                  <a:lnTo>
                    <a:pt x="23198582" y="138811"/>
                  </a:lnTo>
                  <a:cubicBezTo>
                    <a:pt x="23198582" y="148209"/>
                    <a:pt x="23190963" y="155702"/>
                    <a:pt x="23181690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23181690" y="121920"/>
                  </a:lnTo>
                  <a:lnTo>
                    <a:pt x="23181690" y="138811"/>
                  </a:lnTo>
                  <a:lnTo>
                    <a:pt x="23164800" y="138811"/>
                  </a:lnTo>
                  <a:lnTo>
                    <a:pt x="23164800" y="16891"/>
                  </a:lnTo>
                  <a:lnTo>
                    <a:pt x="23181690" y="16891"/>
                  </a:lnTo>
                  <a:lnTo>
                    <a:pt x="231816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29" id="29"/>
          <p:cNvGrpSpPr/>
          <p:nvPr/>
        </p:nvGrpSpPr>
        <p:grpSpPr>
          <a:xfrm rot="0">
            <a:off x="457200" y="9052560"/>
            <a:ext cx="17373600" cy="822960"/>
            <a:chOff x="0" y="0"/>
            <a:chExt cx="23164800" cy="109728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31648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3164800">
                  <a:moveTo>
                    <a:pt x="0" y="0"/>
                  </a:moveTo>
                  <a:lnTo>
                    <a:pt x="23164800" y="0"/>
                  </a:lnTo>
                  <a:lnTo>
                    <a:pt x="231648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61350" r="0" b="-36135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47625"/>
              <a:ext cx="23164800" cy="11449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520"/>
                </a:lnSpc>
              </a:pPr>
              <a:r>
                <a:rPr lang="en-US" sz="2100" i="true">
                  <a:solidFill>
                    <a:srgbClr val="2D6A4F"/>
                  </a:solidFill>
                  <a:latin typeface="Calibri (MS) Italics"/>
                  <a:ea typeface="Calibri (MS) Italics"/>
                  <a:cs typeface="Calibri (MS) Italics"/>
                  <a:sym typeface="Calibri (MS) Italics"/>
                </a:rPr>
                <a:t>India Case: Rajasthan wheat farmer receives 'High Stress' alert 48 hrs early → irrigates + applies shade nets → saves 20–30% potential yield loss</a:t>
              </a:r>
            </a:p>
          </p:txBody>
        </p:sp>
      </p:grpSp>
      <p:sp>
        <p:nvSpPr>
          <p:cNvPr name="TextBox 32" id="32"/>
          <p:cNvSpPr txBox="true"/>
          <p:nvPr/>
        </p:nvSpPr>
        <p:spPr>
          <a:xfrm rot="0">
            <a:off x="-219965" y="7834026"/>
            <a:ext cx="4726454" cy="319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4"/>
              </a:lnSpc>
              <a:spcBef>
                <a:spcPct val="0"/>
              </a:spcBef>
            </a:pPr>
            <a:r>
              <a:rPr lang="en-US" b="true" sz="207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Linear Regression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374369" y="7829550"/>
            <a:ext cx="3297473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4"/>
              </a:lnSpc>
              <a:spcBef>
                <a:spcPct val="0"/>
              </a:spcBef>
            </a:pPr>
            <a:r>
              <a:rPr lang="en-US" b="true" sz="207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Decision Tree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686800" y="7791450"/>
            <a:ext cx="2092747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84"/>
              </a:lnSpc>
              <a:spcBef>
                <a:spcPct val="0"/>
              </a:spcBef>
            </a:pPr>
            <a:r>
              <a:rPr lang="en-US" b="true" sz="2070">
                <a:solidFill>
                  <a:srgbClr val="000000"/>
                </a:solidFill>
                <a:latin typeface="Georgia Bold"/>
                <a:ea typeface="Georgia Bold"/>
                <a:cs typeface="Georgia Bold"/>
                <a:sym typeface="Georgia Bold"/>
              </a:rPr>
              <a:t>Random Forest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342139"/>
            <a:chOff x="0" y="0"/>
            <a:chExt cx="24417871" cy="17895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755648"/>
            </a:xfrm>
            <a:custGeom>
              <a:avLst/>
              <a:gdLst/>
              <a:ahLst/>
              <a:cxnLst/>
              <a:rect r="r" b="b" t="t" l="l"/>
              <a:pathLst>
                <a:path h="1755648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755648"/>
                  </a:lnTo>
                  <a:lnTo>
                    <a:pt x="0" y="1755648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1789430"/>
            </a:xfrm>
            <a:custGeom>
              <a:avLst/>
              <a:gdLst/>
              <a:ahLst/>
              <a:cxnLst/>
              <a:rect r="r" b="b" t="t" l="l"/>
              <a:pathLst>
                <a:path h="1789430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1772539"/>
                  </a:lnTo>
                  <a:cubicBezTo>
                    <a:pt x="24417782" y="1781937"/>
                    <a:pt x="24410163" y="1789430"/>
                    <a:pt x="24400890" y="1789430"/>
                  </a:cubicBezTo>
                  <a:lnTo>
                    <a:pt x="16891" y="1789430"/>
                  </a:lnTo>
                  <a:cubicBezTo>
                    <a:pt x="7493" y="1789430"/>
                    <a:pt x="0" y="1781810"/>
                    <a:pt x="0" y="1772539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772539"/>
                  </a:lnTo>
                  <a:lnTo>
                    <a:pt x="16891" y="1772539"/>
                  </a:lnTo>
                  <a:lnTo>
                    <a:pt x="16891" y="1755648"/>
                  </a:lnTo>
                  <a:lnTo>
                    <a:pt x="24400890" y="1755648"/>
                  </a:lnTo>
                  <a:lnTo>
                    <a:pt x="24400890" y="1772539"/>
                  </a:lnTo>
                  <a:lnTo>
                    <a:pt x="24384000" y="1772539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-12697"/>
            <a:ext cx="171707" cy="10312403"/>
            <a:chOff x="0" y="0"/>
            <a:chExt cx="228943" cy="137498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195072" cy="13715999"/>
            </a:xfrm>
            <a:custGeom>
              <a:avLst/>
              <a:gdLst/>
              <a:ahLst/>
              <a:cxnLst/>
              <a:rect r="r" b="b" t="t" l="l"/>
              <a:pathLst>
                <a:path h="13715999" w="195072">
                  <a:moveTo>
                    <a:pt x="0" y="0"/>
                  </a:moveTo>
                  <a:lnTo>
                    <a:pt x="195072" y="0"/>
                  </a:lnTo>
                  <a:lnTo>
                    <a:pt x="195072" y="13715999"/>
                  </a:lnTo>
                  <a:lnTo>
                    <a:pt x="0" y="13715999"/>
                  </a:lnTo>
                  <a:close/>
                </a:path>
              </a:pathLst>
            </a:custGeom>
            <a:solidFill>
              <a:srgbClr val="E9C46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28854" cy="13749782"/>
            </a:xfrm>
            <a:custGeom>
              <a:avLst/>
              <a:gdLst/>
              <a:ahLst/>
              <a:cxnLst/>
              <a:rect r="r" b="b" t="t" l="l"/>
              <a:pathLst>
                <a:path h="13749782" w="228854">
                  <a:moveTo>
                    <a:pt x="16891" y="0"/>
                  </a:moveTo>
                  <a:lnTo>
                    <a:pt x="211963" y="0"/>
                  </a:lnTo>
                  <a:cubicBezTo>
                    <a:pt x="221361" y="0"/>
                    <a:pt x="228854" y="7620"/>
                    <a:pt x="228854" y="16891"/>
                  </a:cubicBezTo>
                  <a:lnTo>
                    <a:pt x="228854" y="13732890"/>
                  </a:lnTo>
                  <a:cubicBezTo>
                    <a:pt x="228854" y="13742290"/>
                    <a:pt x="221234" y="13749782"/>
                    <a:pt x="211963" y="13749782"/>
                  </a:cubicBezTo>
                  <a:lnTo>
                    <a:pt x="16891" y="13749782"/>
                  </a:lnTo>
                  <a:cubicBezTo>
                    <a:pt x="7493" y="13749782"/>
                    <a:pt x="0" y="13742163"/>
                    <a:pt x="0" y="13732890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732890"/>
                  </a:lnTo>
                  <a:lnTo>
                    <a:pt x="16891" y="13732890"/>
                  </a:lnTo>
                  <a:lnTo>
                    <a:pt x="16891" y="13716000"/>
                  </a:lnTo>
                  <a:lnTo>
                    <a:pt x="211963" y="13716000"/>
                  </a:lnTo>
                  <a:lnTo>
                    <a:pt x="211963" y="13732890"/>
                  </a:lnTo>
                  <a:lnTo>
                    <a:pt x="195072" y="13732890"/>
                  </a:lnTo>
                  <a:lnTo>
                    <a:pt x="195072" y="16891"/>
                  </a:lnTo>
                  <a:lnTo>
                    <a:pt x="211963" y="16891"/>
                  </a:lnTo>
                  <a:lnTo>
                    <a:pt x="211963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9C46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457200" y="256032"/>
            <a:ext cx="16459200" cy="804672"/>
            <a:chOff x="0" y="0"/>
            <a:chExt cx="21945600" cy="10728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8557" r="0" b="-34855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21945600" cy="10824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560"/>
                </a:lnSpc>
              </a:pPr>
              <a:r>
                <a:rPr lang="en-US" sz="3800" b="true">
                  <a:solidFill>
                    <a:srgbClr val="F8F9F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17  |  Novelty Summary &amp; Key Conclusions</a:t>
              </a:r>
            </a:p>
          </p:txBody>
        </p:sp>
      </p:grpSp>
      <p:graphicFrame>
        <p:nvGraphicFramePr>
          <p:cNvPr name="Table 11" id="11"/>
          <p:cNvGraphicFramePr>
            <a:graphicFrameLocks noGrp="true"/>
          </p:cNvGraphicFramePr>
          <p:nvPr/>
        </p:nvGraphicFramePr>
        <p:xfrm>
          <a:off x="457200" y="1554480"/>
          <a:ext cx="17348200" cy="6096000"/>
        </p:xfrm>
        <a:graphic>
          <a:graphicData uri="http://schemas.openxmlformats.org/drawingml/2006/table">
            <a:tbl>
              <a:tblPr/>
              <a:tblGrid>
                <a:gridCol w="4029016"/>
                <a:gridCol w="6024625"/>
                <a:gridCol w="7294559"/>
              </a:tblGrid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8F9F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Aspect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8F9F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Base Paper (Lobell &amp; Burke, 2010)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F8F9F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This Study — Novel Contribution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ML Model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Linear Regression, Basic ANN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Linear Reg + Decision Tree + Random Forest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Best Accuracy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~72–80%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2D6A4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84% (Random Forest)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Stress Index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None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2D6A4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Custom CSI (0–100) — novel formula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Input Features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Temperature, Rainfall only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Temp + Humidity + Rainfall + Soil Moisture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Output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Yield prediction only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Stress level + Farmer recommendation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Dataset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~900 records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~2,500 records (3× larger)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  <a:tr h="7620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Detection Type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>
                          <a:solidFill>
                            <a:srgbClr val="1B2B1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Reactive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2100" b="true">
                          <a:solidFill>
                            <a:srgbClr val="2D6A4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Predictive — 24–48 hrs before damage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52B78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F3DC"/>
                    </a:solidFill>
                  </a:tcPr>
                </a:tc>
              </a:tr>
            </a:tbl>
          </a:graphicData>
        </a:graphic>
      </p:graphicFrame>
      <p:grpSp>
        <p:nvGrpSpPr>
          <p:cNvPr name="Group 12" id="12"/>
          <p:cNvGrpSpPr/>
          <p:nvPr/>
        </p:nvGrpSpPr>
        <p:grpSpPr>
          <a:xfrm rot="0">
            <a:off x="444503" y="7814567"/>
            <a:ext cx="17399003" cy="116843"/>
            <a:chOff x="0" y="0"/>
            <a:chExt cx="23198671" cy="15579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6891" y="16891"/>
              <a:ext cx="23164799" cy="121920"/>
            </a:xfrm>
            <a:custGeom>
              <a:avLst/>
              <a:gdLst/>
              <a:ahLst/>
              <a:cxnLst/>
              <a:rect r="r" b="b" t="t" l="l"/>
              <a:pathLst>
                <a:path h="121920" w="23164799">
                  <a:moveTo>
                    <a:pt x="0" y="0"/>
                  </a:moveTo>
                  <a:lnTo>
                    <a:pt x="23164799" y="0"/>
                  </a:lnTo>
                  <a:lnTo>
                    <a:pt x="23164799" y="121920"/>
                  </a:lnTo>
                  <a:lnTo>
                    <a:pt x="0" y="121920"/>
                  </a:ln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3198582" cy="155704"/>
            </a:xfrm>
            <a:custGeom>
              <a:avLst/>
              <a:gdLst/>
              <a:ahLst/>
              <a:cxnLst/>
              <a:rect r="r" b="b" t="t" l="l"/>
              <a:pathLst>
                <a:path h="155704" w="23198582">
                  <a:moveTo>
                    <a:pt x="16891" y="0"/>
                  </a:moveTo>
                  <a:lnTo>
                    <a:pt x="23181690" y="0"/>
                  </a:lnTo>
                  <a:cubicBezTo>
                    <a:pt x="23191090" y="0"/>
                    <a:pt x="23198582" y="7620"/>
                    <a:pt x="23198582" y="16891"/>
                  </a:cubicBezTo>
                  <a:lnTo>
                    <a:pt x="23198582" y="138811"/>
                  </a:lnTo>
                  <a:cubicBezTo>
                    <a:pt x="23198582" y="148209"/>
                    <a:pt x="23190963" y="155702"/>
                    <a:pt x="23181690" y="155702"/>
                  </a:cubicBezTo>
                  <a:lnTo>
                    <a:pt x="16891" y="155702"/>
                  </a:lnTo>
                  <a:cubicBezTo>
                    <a:pt x="7620" y="155829"/>
                    <a:pt x="0" y="148209"/>
                    <a:pt x="0" y="13881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38811"/>
                  </a:lnTo>
                  <a:lnTo>
                    <a:pt x="16891" y="138811"/>
                  </a:lnTo>
                  <a:lnTo>
                    <a:pt x="16891" y="121920"/>
                  </a:lnTo>
                  <a:lnTo>
                    <a:pt x="23181690" y="121920"/>
                  </a:lnTo>
                  <a:lnTo>
                    <a:pt x="23181690" y="138811"/>
                  </a:lnTo>
                  <a:lnTo>
                    <a:pt x="23164800" y="138811"/>
                  </a:lnTo>
                  <a:lnTo>
                    <a:pt x="23164800" y="16891"/>
                  </a:lnTo>
                  <a:lnTo>
                    <a:pt x="23181690" y="16891"/>
                  </a:lnTo>
                  <a:lnTo>
                    <a:pt x="231816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457200" y="8010144"/>
            <a:ext cx="7315200" cy="512064"/>
            <a:chOff x="0" y="0"/>
            <a:chExt cx="9753600" cy="68275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753600" cy="682752"/>
            </a:xfrm>
            <a:custGeom>
              <a:avLst/>
              <a:gdLst/>
              <a:ahLst/>
              <a:cxnLst/>
              <a:rect r="r" b="b" t="t" l="l"/>
              <a:pathLst>
                <a:path h="682752" w="9753600">
                  <a:moveTo>
                    <a:pt x="0" y="0"/>
                  </a:moveTo>
                  <a:lnTo>
                    <a:pt x="9753600" y="0"/>
                  </a:lnTo>
                  <a:lnTo>
                    <a:pt x="9753600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8357" r="0" b="-22835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9753600" cy="720852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1B4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Key Conclusions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457200" y="8595360"/>
            <a:ext cx="8595360" cy="1554480"/>
            <a:chOff x="0" y="0"/>
            <a:chExt cx="11460480" cy="207264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46048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1460480">
                  <a:moveTo>
                    <a:pt x="0" y="0"/>
                  </a:moveTo>
                  <a:lnTo>
                    <a:pt x="11460480" y="0"/>
                  </a:lnTo>
                  <a:lnTo>
                    <a:pt x="1146048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7740" r="0" b="-5774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1460480" cy="2110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 can detect crop stress before it becomes visible — enabling preventive action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Random Forest significantly outperforms traditional regression methods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CSI is a simple yet powerful tool adoptable by agricultural agencies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Multi-factor analysis is far superior to single-parameter approaches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509760" y="8595360"/>
            <a:ext cx="8229600" cy="1554480"/>
            <a:chOff x="0" y="0"/>
            <a:chExt cx="10972800" cy="20726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972800" cy="2072640"/>
            </a:xfrm>
            <a:custGeom>
              <a:avLst/>
              <a:gdLst/>
              <a:ahLst/>
              <a:cxnLst/>
              <a:rect r="r" b="b" t="t" l="l"/>
              <a:pathLst>
                <a:path h="2072640" w="10972800">
                  <a:moveTo>
                    <a:pt x="0" y="0"/>
                  </a:moveTo>
                  <a:lnTo>
                    <a:pt x="10972800" y="0"/>
                  </a:lnTo>
                  <a:lnTo>
                    <a:pt x="10972800" y="2072640"/>
                  </a:lnTo>
                  <a:lnTo>
                    <a:pt x="0" y="2072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3156" r="0" b="-53156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0972800" cy="2110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No expensive hardware required — accessible to small farmers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AI-guided irrigation → 25–30% water waste reduction</a:t>
              </a:r>
            </a:p>
            <a:p>
              <a:pPr algn="l" marL="482600" indent="-241300" lvl="1">
                <a:lnSpc>
                  <a:spcPts val="2400"/>
                </a:lnSpc>
                <a:buFont typeface="Arial"/>
                <a:buChar char="•"/>
              </a:pPr>
              <a:r>
                <a:rPr lang="en-US" sz="2000">
                  <a:solidFill>
                    <a:srgbClr val="1B2B1B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Reduced unnecessary pesticide/fertilizer → lower carbon emissions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12697" y="-12697"/>
            <a:ext cx="18313403" cy="171707"/>
            <a:chOff x="0" y="0"/>
            <a:chExt cx="24417871" cy="22894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16891" y="16891"/>
              <a:ext cx="24383999" cy="195072"/>
            </a:xfrm>
            <a:custGeom>
              <a:avLst/>
              <a:gdLst/>
              <a:ahLst/>
              <a:cxnLst/>
              <a:rect r="r" b="b" t="t" l="l"/>
              <a:pathLst>
                <a:path h="195072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195072"/>
                  </a:lnTo>
                  <a:lnTo>
                    <a:pt x="0" y="195072"/>
                  </a:lnTo>
                  <a:close/>
                </a:path>
              </a:pathLst>
            </a:custGeom>
            <a:solidFill>
              <a:srgbClr val="E9C46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417782" cy="228856"/>
            </a:xfrm>
            <a:custGeom>
              <a:avLst/>
              <a:gdLst/>
              <a:ahLst/>
              <a:cxnLst/>
              <a:rect r="r" b="b" t="t" l="l"/>
              <a:pathLst>
                <a:path h="228856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11963"/>
                  </a:lnTo>
                  <a:cubicBezTo>
                    <a:pt x="24417782" y="221361"/>
                    <a:pt x="24410163" y="228854"/>
                    <a:pt x="24400890" y="228854"/>
                  </a:cubicBezTo>
                  <a:lnTo>
                    <a:pt x="16891" y="228854"/>
                  </a:lnTo>
                  <a:cubicBezTo>
                    <a:pt x="7620" y="228981"/>
                    <a:pt x="0" y="221361"/>
                    <a:pt x="0" y="211963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11963"/>
                  </a:lnTo>
                  <a:lnTo>
                    <a:pt x="16891" y="211963"/>
                  </a:lnTo>
                  <a:lnTo>
                    <a:pt x="16891" y="195072"/>
                  </a:lnTo>
                  <a:lnTo>
                    <a:pt x="24400890" y="195072"/>
                  </a:lnTo>
                  <a:lnTo>
                    <a:pt x="24400890" y="211963"/>
                  </a:lnTo>
                  <a:lnTo>
                    <a:pt x="24384000" y="211963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9C46A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-12697" y="10118855"/>
            <a:ext cx="18313403" cy="180851"/>
            <a:chOff x="0" y="0"/>
            <a:chExt cx="24417871" cy="24113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16891" y="16891"/>
              <a:ext cx="24383999" cy="207264"/>
            </a:xfrm>
            <a:custGeom>
              <a:avLst/>
              <a:gdLst/>
              <a:ahLst/>
              <a:cxnLst/>
              <a:rect r="r" b="b" t="t" l="l"/>
              <a:pathLst>
                <a:path h="207264" w="24383999">
                  <a:moveTo>
                    <a:pt x="0" y="0"/>
                  </a:moveTo>
                  <a:lnTo>
                    <a:pt x="24383999" y="0"/>
                  </a:lnTo>
                  <a:lnTo>
                    <a:pt x="24383999" y="207264"/>
                  </a:lnTo>
                  <a:lnTo>
                    <a:pt x="0" y="207264"/>
                  </a:lnTo>
                  <a:close/>
                </a:path>
              </a:pathLst>
            </a:custGeom>
            <a:solidFill>
              <a:srgbClr val="E9C46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417782" cy="241048"/>
            </a:xfrm>
            <a:custGeom>
              <a:avLst/>
              <a:gdLst/>
              <a:ahLst/>
              <a:cxnLst/>
              <a:rect r="r" b="b" t="t" l="l"/>
              <a:pathLst>
                <a:path h="241048" w="24417782">
                  <a:moveTo>
                    <a:pt x="16891" y="0"/>
                  </a:moveTo>
                  <a:lnTo>
                    <a:pt x="24400890" y="0"/>
                  </a:lnTo>
                  <a:cubicBezTo>
                    <a:pt x="24410290" y="0"/>
                    <a:pt x="24417782" y="7620"/>
                    <a:pt x="24417782" y="16891"/>
                  </a:cubicBezTo>
                  <a:lnTo>
                    <a:pt x="24417782" y="224155"/>
                  </a:lnTo>
                  <a:cubicBezTo>
                    <a:pt x="24417782" y="233553"/>
                    <a:pt x="24410163" y="241046"/>
                    <a:pt x="24400890" y="241046"/>
                  </a:cubicBezTo>
                  <a:lnTo>
                    <a:pt x="16891" y="241046"/>
                  </a:lnTo>
                  <a:cubicBezTo>
                    <a:pt x="7620" y="241173"/>
                    <a:pt x="0" y="233553"/>
                    <a:pt x="0" y="224155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224155"/>
                  </a:lnTo>
                  <a:lnTo>
                    <a:pt x="16891" y="224155"/>
                  </a:lnTo>
                  <a:lnTo>
                    <a:pt x="16891" y="207264"/>
                  </a:lnTo>
                  <a:lnTo>
                    <a:pt x="24400890" y="207264"/>
                  </a:lnTo>
                  <a:lnTo>
                    <a:pt x="24400890" y="224155"/>
                  </a:lnTo>
                  <a:lnTo>
                    <a:pt x="24384000" y="224155"/>
                  </a:lnTo>
                  <a:lnTo>
                    <a:pt x="24384000" y="16891"/>
                  </a:lnTo>
                  <a:lnTo>
                    <a:pt x="24400890" y="16891"/>
                  </a:lnTo>
                  <a:lnTo>
                    <a:pt x="2440089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E9C46A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548640" y="274320"/>
            <a:ext cx="16459200" cy="804672"/>
            <a:chOff x="0" y="0"/>
            <a:chExt cx="21945600" cy="107289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1945600" cy="1072896"/>
            </a:xfrm>
            <a:custGeom>
              <a:avLst/>
              <a:gdLst/>
              <a:ahLst/>
              <a:cxnLst/>
              <a:rect r="r" b="b" t="t" l="l"/>
              <a:pathLst>
                <a:path h="1072896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72896"/>
                  </a:lnTo>
                  <a:lnTo>
                    <a:pt x="0" y="1072896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348557" r="0" b="-348557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19050"/>
              <a:ext cx="21945600" cy="109194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800"/>
                </a:lnSpc>
              </a:pPr>
              <a:r>
                <a:rPr lang="en-US" sz="4000" b="true">
                  <a:solidFill>
                    <a:srgbClr val="F8F9F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18</a:t>
              </a:r>
              <a:r>
                <a:rPr lang="en-US" sz="4000" b="true">
                  <a:solidFill>
                    <a:srgbClr val="F8F9F0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  |  Future Scope &amp; References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65760" y="1316736"/>
            <a:ext cx="4206240" cy="5120640"/>
            <a:chOff x="0" y="0"/>
            <a:chExt cx="5608320" cy="682752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608320" cy="6827520"/>
            </a:xfrm>
            <a:custGeom>
              <a:avLst/>
              <a:gdLst/>
              <a:ahLst/>
              <a:cxnLst/>
              <a:rect r="r" b="b" t="t" l="l"/>
              <a:pathLst>
                <a:path h="682752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6827520"/>
                  </a:lnTo>
                  <a:lnTo>
                    <a:pt x="0" y="6827520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353063" y="1304039"/>
            <a:ext cx="4231643" cy="848363"/>
            <a:chOff x="0" y="0"/>
            <a:chExt cx="5642191" cy="113115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16891" y="16891"/>
              <a:ext cx="56083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642102" cy="1131064"/>
            </a:xfrm>
            <a:custGeom>
              <a:avLst/>
              <a:gdLst/>
              <a:ahLst/>
              <a:cxnLst/>
              <a:rect r="r" b="b" t="t" l="l"/>
              <a:pathLst>
                <a:path h="1131064" w="5642102">
                  <a:moveTo>
                    <a:pt x="16891" y="0"/>
                  </a:moveTo>
                  <a:lnTo>
                    <a:pt x="5625211" y="0"/>
                  </a:lnTo>
                  <a:cubicBezTo>
                    <a:pt x="5634609" y="0"/>
                    <a:pt x="5642102" y="7620"/>
                    <a:pt x="5642102" y="16891"/>
                  </a:cubicBezTo>
                  <a:lnTo>
                    <a:pt x="5642102" y="1114171"/>
                  </a:lnTo>
                  <a:cubicBezTo>
                    <a:pt x="5642102" y="1123569"/>
                    <a:pt x="5634482" y="1131062"/>
                    <a:pt x="562521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5625211" y="1097280"/>
                  </a:lnTo>
                  <a:lnTo>
                    <a:pt x="5625211" y="1114171"/>
                  </a:lnTo>
                  <a:lnTo>
                    <a:pt x="5608320" y="1114171"/>
                  </a:lnTo>
                  <a:lnTo>
                    <a:pt x="5608320" y="16891"/>
                  </a:lnTo>
                  <a:lnTo>
                    <a:pt x="5625211" y="16891"/>
                  </a:lnTo>
                  <a:lnTo>
                    <a:pt x="5625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512064" y="1371600"/>
            <a:ext cx="3931920" cy="658368"/>
            <a:chOff x="0" y="0"/>
            <a:chExt cx="5242560" cy="877824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242560" cy="877824"/>
            </a:xfrm>
            <a:custGeom>
              <a:avLst/>
              <a:gdLst/>
              <a:ahLst/>
              <a:cxnLst/>
              <a:rect r="r" b="b" t="t" l="l"/>
              <a:pathLst>
                <a:path h="877824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368" r="0" b="-66368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47625"/>
              <a:ext cx="524256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B4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📡  IoT Integration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512064" y="2267712"/>
            <a:ext cx="3931920" cy="3840480"/>
            <a:chOff x="0" y="0"/>
            <a:chExt cx="5242560" cy="51206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242560" cy="5120640"/>
            </a:xfrm>
            <a:custGeom>
              <a:avLst/>
              <a:gdLst/>
              <a:ahLst/>
              <a:cxnLst/>
              <a:rect r="r" b="b" t="t" l="l"/>
              <a:pathLst>
                <a:path h="512064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5120640"/>
                  </a:lnTo>
                  <a:lnTo>
                    <a:pt x="0" y="5120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5319" t="0" r="-75319" b="0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5242560" cy="5158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D8F3D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Low-cost Arduino + Raspberry Pi sensors</a:t>
              </a:r>
            </a:p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D8F3D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Fully automated, real-time stress monitoring</a:t>
              </a:r>
            </a:p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D8F3D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Under ₹5,000/hectare — affordable deployment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4901184" y="1316736"/>
            <a:ext cx="4206240" cy="5120640"/>
            <a:chOff x="0" y="0"/>
            <a:chExt cx="5608320" cy="682752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608320" cy="6827520"/>
            </a:xfrm>
            <a:custGeom>
              <a:avLst/>
              <a:gdLst/>
              <a:ahLst/>
              <a:cxnLst/>
              <a:rect r="r" b="b" t="t" l="l"/>
              <a:pathLst>
                <a:path h="682752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6827520"/>
                  </a:lnTo>
                  <a:lnTo>
                    <a:pt x="0" y="6827520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4888487" y="1304039"/>
            <a:ext cx="4231643" cy="848363"/>
            <a:chOff x="0" y="0"/>
            <a:chExt cx="5642191" cy="113115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16891" y="16891"/>
              <a:ext cx="56083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642102" cy="1131064"/>
            </a:xfrm>
            <a:custGeom>
              <a:avLst/>
              <a:gdLst/>
              <a:ahLst/>
              <a:cxnLst/>
              <a:rect r="r" b="b" t="t" l="l"/>
              <a:pathLst>
                <a:path h="1131064" w="5642102">
                  <a:moveTo>
                    <a:pt x="16891" y="0"/>
                  </a:moveTo>
                  <a:lnTo>
                    <a:pt x="5625211" y="0"/>
                  </a:lnTo>
                  <a:cubicBezTo>
                    <a:pt x="5634609" y="0"/>
                    <a:pt x="5642102" y="7620"/>
                    <a:pt x="5642102" y="16891"/>
                  </a:cubicBezTo>
                  <a:lnTo>
                    <a:pt x="5642102" y="1114171"/>
                  </a:lnTo>
                  <a:cubicBezTo>
                    <a:pt x="5642102" y="1123569"/>
                    <a:pt x="5634482" y="1131062"/>
                    <a:pt x="562521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5625211" y="1097280"/>
                  </a:lnTo>
                  <a:lnTo>
                    <a:pt x="5625211" y="1114171"/>
                  </a:lnTo>
                  <a:lnTo>
                    <a:pt x="5608320" y="1114171"/>
                  </a:lnTo>
                  <a:lnTo>
                    <a:pt x="5608320" y="16891"/>
                  </a:lnTo>
                  <a:lnTo>
                    <a:pt x="5625211" y="16891"/>
                  </a:lnTo>
                  <a:lnTo>
                    <a:pt x="5625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27" id="27"/>
          <p:cNvGrpSpPr/>
          <p:nvPr/>
        </p:nvGrpSpPr>
        <p:grpSpPr>
          <a:xfrm rot="0">
            <a:off x="5047488" y="1371600"/>
            <a:ext cx="3931920" cy="658368"/>
            <a:chOff x="0" y="0"/>
            <a:chExt cx="5242560" cy="87782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242560" cy="877824"/>
            </a:xfrm>
            <a:custGeom>
              <a:avLst/>
              <a:gdLst/>
              <a:ahLst/>
              <a:cxnLst/>
              <a:rect r="r" b="b" t="t" l="l"/>
              <a:pathLst>
                <a:path h="877824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368" r="0" b="-6636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47625"/>
              <a:ext cx="524256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B4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📱  Mobile Application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5047488" y="2267712"/>
            <a:ext cx="3931920" cy="3840480"/>
            <a:chOff x="0" y="0"/>
            <a:chExt cx="5242560" cy="5120640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242560" cy="5120640"/>
            </a:xfrm>
            <a:custGeom>
              <a:avLst/>
              <a:gdLst/>
              <a:ahLst/>
              <a:cxnLst/>
              <a:rect r="r" b="b" t="t" l="l"/>
              <a:pathLst>
                <a:path h="512064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5120640"/>
                  </a:lnTo>
                  <a:lnTo>
                    <a:pt x="0" y="5120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5319" t="0" r="-75319" b="0"/>
              </a:stretch>
            </a:blip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38100"/>
              <a:ext cx="5242560" cy="5158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D8F3D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Android/iOS app with local language alerts</a:t>
              </a:r>
            </a:p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D8F3D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SMS alerts for non-smartphone farmers</a:t>
              </a:r>
            </a:p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D8F3D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Hindi, Marathi, Telugu, Kannada, Tamil support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436608" y="1316736"/>
            <a:ext cx="4206240" cy="5120640"/>
            <a:chOff x="0" y="0"/>
            <a:chExt cx="5608320" cy="682752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5608320" cy="6827520"/>
            </a:xfrm>
            <a:custGeom>
              <a:avLst/>
              <a:gdLst/>
              <a:ahLst/>
              <a:cxnLst/>
              <a:rect r="r" b="b" t="t" l="l"/>
              <a:pathLst>
                <a:path h="682752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6827520"/>
                  </a:lnTo>
                  <a:lnTo>
                    <a:pt x="0" y="6827520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9423911" y="1304039"/>
            <a:ext cx="4231643" cy="848363"/>
            <a:chOff x="0" y="0"/>
            <a:chExt cx="5642191" cy="113115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16891" y="16891"/>
              <a:ext cx="56083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642102" cy="1131064"/>
            </a:xfrm>
            <a:custGeom>
              <a:avLst/>
              <a:gdLst/>
              <a:ahLst/>
              <a:cxnLst/>
              <a:rect r="r" b="b" t="t" l="l"/>
              <a:pathLst>
                <a:path h="1131064" w="5642102">
                  <a:moveTo>
                    <a:pt x="16891" y="0"/>
                  </a:moveTo>
                  <a:lnTo>
                    <a:pt x="5625211" y="0"/>
                  </a:lnTo>
                  <a:cubicBezTo>
                    <a:pt x="5634609" y="0"/>
                    <a:pt x="5642102" y="7620"/>
                    <a:pt x="5642102" y="16891"/>
                  </a:cubicBezTo>
                  <a:lnTo>
                    <a:pt x="5642102" y="1114171"/>
                  </a:lnTo>
                  <a:cubicBezTo>
                    <a:pt x="5642102" y="1123569"/>
                    <a:pt x="5634482" y="1131062"/>
                    <a:pt x="562521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5625211" y="1097280"/>
                  </a:lnTo>
                  <a:lnTo>
                    <a:pt x="5625211" y="1114171"/>
                  </a:lnTo>
                  <a:lnTo>
                    <a:pt x="5608320" y="1114171"/>
                  </a:lnTo>
                  <a:lnTo>
                    <a:pt x="5608320" y="16891"/>
                  </a:lnTo>
                  <a:lnTo>
                    <a:pt x="5625211" y="16891"/>
                  </a:lnTo>
                  <a:lnTo>
                    <a:pt x="5625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9582912" y="1371600"/>
            <a:ext cx="3931920" cy="658368"/>
            <a:chOff x="0" y="0"/>
            <a:chExt cx="5242560" cy="877824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5242560" cy="877824"/>
            </a:xfrm>
            <a:custGeom>
              <a:avLst/>
              <a:gdLst/>
              <a:ahLst/>
              <a:cxnLst/>
              <a:rect r="r" b="b" t="t" l="l"/>
              <a:pathLst>
                <a:path h="877824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368" r="0" b="-66368"/>
              </a:stretch>
            </a:blip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47625"/>
              <a:ext cx="524256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B4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🤖  Deep Learning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582912" y="2267712"/>
            <a:ext cx="3931920" cy="3840480"/>
            <a:chOff x="0" y="0"/>
            <a:chExt cx="5242560" cy="512064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5242560" cy="5120640"/>
            </a:xfrm>
            <a:custGeom>
              <a:avLst/>
              <a:gdLst/>
              <a:ahLst/>
              <a:cxnLst/>
              <a:rect r="r" b="b" t="t" l="l"/>
              <a:pathLst>
                <a:path h="512064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5120640"/>
                  </a:lnTo>
                  <a:lnTo>
                    <a:pt x="0" y="5120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5319" t="0" r="-75319" b="0"/>
              </a:stretch>
            </a:blip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5242560" cy="5158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D8F3D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LSTM models for time-series forecasting</a:t>
              </a:r>
            </a:p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D8F3D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Combine env. data + crop photo analysis</a:t>
              </a:r>
            </a:p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D8F3D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Satellite image integration for large-scale monitoring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3972032" y="1316736"/>
            <a:ext cx="4206240" cy="5120640"/>
            <a:chOff x="0" y="0"/>
            <a:chExt cx="5608320" cy="682752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608320" cy="6827520"/>
            </a:xfrm>
            <a:custGeom>
              <a:avLst/>
              <a:gdLst/>
              <a:ahLst/>
              <a:cxnLst/>
              <a:rect r="r" b="b" t="t" l="l"/>
              <a:pathLst>
                <a:path h="682752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6827520"/>
                  </a:lnTo>
                  <a:lnTo>
                    <a:pt x="0" y="6827520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3959335" y="1304039"/>
            <a:ext cx="4231643" cy="848363"/>
            <a:chOff x="0" y="0"/>
            <a:chExt cx="5642191" cy="1131151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16891" y="16891"/>
              <a:ext cx="5608320" cy="1097280"/>
            </a:xfrm>
            <a:custGeom>
              <a:avLst/>
              <a:gdLst/>
              <a:ahLst/>
              <a:cxnLst/>
              <a:rect r="r" b="b" t="t" l="l"/>
              <a:pathLst>
                <a:path h="109728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1097280"/>
                  </a:lnTo>
                  <a:lnTo>
                    <a:pt x="0" y="1097280"/>
                  </a:lnTo>
                  <a:close/>
                </a:path>
              </a:pathLst>
            </a:custGeom>
            <a:solidFill>
              <a:srgbClr val="52B788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642102" cy="1131064"/>
            </a:xfrm>
            <a:custGeom>
              <a:avLst/>
              <a:gdLst/>
              <a:ahLst/>
              <a:cxnLst/>
              <a:rect r="r" b="b" t="t" l="l"/>
              <a:pathLst>
                <a:path h="1131064" w="5642102">
                  <a:moveTo>
                    <a:pt x="16891" y="0"/>
                  </a:moveTo>
                  <a:lnTo>
                    <a:pt x="5625211" y="0"/>
                  </a:lnTo>
                  <a:cubicBezTo>
                    <a:pt x="5634609" y="0"/>
                    <a:pt x="5642102" y="7620"/>
                    <a:pt x="5642102" y="16891"/>
                  </a:cubicBezTo>
                  <a:lnTo>
                    <a:pt x="5642102" y="1114171"/>
                  </a:lnTo>
                  <a:cubicBezTo>
                    <a:pt x="5642102" y="1123569"/>
                    <a:pt x="5634482" y="1131062"/>
                    <a:pt x="5625211" y="1131062"/>
                  </a:cubicBezTo>
                  <a:lnTo>
                    <a:pt x="16891" y="1131062"/>
                  </a:lnTo>
                  <a:cubicBezTo>
                    <a:pt x="7620" y="1131189"/>
                    <a:pt x="0" y="1123569"/>
                    <a:pt x="0" y="111417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1114171"/>
                  </a:lnTo>
                  <a:lnTo>
                    <a:pt x="16891" y="1114171"/>
                  </a:lnTo>
                  <a:lnTo>
                    <a:pt x="16891" y="1097280"/>
                  </a:lnTo>
                  <a:lnTo>
                    <a:pt x="5625211" y="1097280"/>
                  </a:lnTo>
                  <a:lnTo>
                    <a:pt x="5625211" y="1114171"/>
                  </a:lnTo>
                  <a:lnTo>
                    <a:pt x="5608320" y="1114171"/>
                  </a:lnTo>
                  <a:lnTo>
                    <a:pt x="5608320" y="16891"/>
                  </a:lnTo>
                  <a:lnTo>
                    <a:pt x="5625211" y="16891"/>
                  </a:lnTo>
                  <a:lnTo>
                    <a:pt x="5625211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52B788"/>
            </a:solidFill>
          </p:spPr>
        </p:sp>
      </p:grpSp>
      <p:grpSp>
        <p:nvGrpSpPr>
          <p:cNvPr name="Group 49" id="49"/>
          <p:cNvGrpSpPr/>
          <p:nvPr/>
        </p:nvGrpSpPr>
        <p:grpSpPr>
          <a:xfrm rot="0">
            <a:off x="14118336" y="1371600"/>
            <a:ext cx="3931920" cy="658368"/>
            <a:chOff x="0" y="0"/>
            <a:chExt cx="5242560" cy="877824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5242560" cy="877824"/>
            </a:xfrm>
            <a:custGeom>
              <a:avLst/>
              <a:gdLst/>
              <a:ahLst/>
              <a:cxnLst/>
              <a:rect r="r" b="b" t="t" l="l"/>
              <a:pathLst>
                <a:path h="877824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877824"/>
                  </a:lnTo>
                  <a:lnTo>
                    <a:pt x="0" y="87782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6368" r="0" b="-66368"/>
              </a:stretch>
            </a:blip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47625"/>
              <a:ext cx="5242560" cy="92544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520"/>
                </a:lnSpc>
              </a:pPr>
              <a:r>
                <a:rPr lang="en-US" sz="2100" b="true">
                  <a:solidFill>
                    <a:srgbClr val="1B4332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🌱  Precision Agriculture</a:t>
              </a: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4118336" y="2267712"/>
            <a:ext cx="3931920" cy="3840480"/>
            <a:chOff x="0" y="0"/>
            <a:chExt cx="5242560" cy="512064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242560" cy="5120640"/>
            </a:xfrm>
            <a:custGeom>
              <a:avLst/>
              <a:gdLst/>
              <a:ahLst/>
              <a:cxnLst/>
              <a:rect r="r" b="b" t="t" l="l"/>
              <a:pathLst>
                <a:path h="5120640" w="5242560">
                  <a:moveTo>
                    <a:pt x="0" y="0"/>
                  </a:moveTo>
                  <a:lnTo>
                    <a:pt x="5242560" y="0"/>
                  </a:lnTo>
                  <a:lnTo>
                    <a:pt x="5242560" y="5120640"/>
                  </a:lnTo>
                  <a:lnTo>
                    <a:pt x="0" y="51206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75319" t="0" r="-75319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5242560" cy="515874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D8F3D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Variable Rate Irrigation (VRI) per zone</a:t>
              </a:r>
            </a:p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D8F3D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Drone-based stress mapping for large farms</a:t>
              </a:r>
            </a:p>
            <a:p>
              <a:pPr algn="l" marL="458470" indent="-229235" lvl="1">
                <a:lnSpc>
                  <a:spcPts val="2280"/>
                </a:lnSpc>
                <a:buFont typeface="Arial"/>
                <a:buChar char="•"/>
              </a:pPr>
              <a:r>
                <a:rPr lang="en-US" sz="1900">
                  <a:solidFill>
                    <a:srgbClr val="D8F3D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PM-KISAN integration + Carbon credit generation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353063" y="6607559"/>
            <a:ext cx="17581883" cy="665483"/>
            <a:chOff x="0" y="0"/>
            <a:chExt cx="23442511" cy="887311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16891" y="16891"/>
              <a:ext cx="23408639" cy="853440"/>
            </a:xfrm>
            <a:custGeom>
              <a:avLst/>
              <a:gdLst/>
              <a:ahLst/>
              <a:cxnLst/>
              <a:rect r="r" b="b" t="t" l="l"/>
              <a:pathLst>
                <a:path h="853440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853440"/>
                  </a:lnTo>
                  <a:lnTo>
                    <a:pt x="0" y="853440"/>
                  </a:lnTo>
                  <a:close/>
                </a:path>
              </a:pathLst>
            </a:custGeom>
            <a:solidFill>
              <a:srgbClr val="2D6A4F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23442422" cy="887224"/>
            </a:xfrm>
            <a:custGeom>
              <a:avLst/>
              <a:gdLst/>
              <a:ahLst/>
              <a:cxnLst/>
              <a:rect r="r" b="b" t="t" l="l"/>
              <a:pathLst>
                <a:path h="887224" w="23442422">
                  <a:moveTo>
                    <a:pt x="16891" y="0"/>
                  </a:moveTo>
                  <a:lnTo>
                    <a:pt x="23425530" y="0"/>
                  </a:lnTo>
                  <a:cubicBezTo>
                    <a:pt x="23434929" y="0"/>
                    <a:pt x="23442422" y="7620"/>
                    <a:pt x="23442422" y="16891"/>
                  </a:cubicBezTo>
                  <a:lnTo>
                    <a:pt x="23442422" y="870331"/>
                  </a:lnTo>
                  <a:cubicBezTo>
                    <a:pt x="23442422" y="879729"/>
                    <a:pt x="23434802" y="887222"/>
                    <a:pt x="23425530" y="887222"/>
                  </a:cubicBezTo>
                  <a:lnTo>
                    <a:pt x="16891" y="887222"/>
                  </a:lnTo>
                  <a:cubicBezTo>
                    <a:pt x="7620" y="887349"/>
                    <a:pt x="0" y="879729"/>
                    <a:pt x="0" y="870331"/>
                  </a:cubicBezTo>
                  <a:lnTo>
                    <a:pt x="0" y="16891"/>
                  </a:lnTo>
                  <a:cubicBezTo>
                    <a:pt x="0" y="7620"/>
                    <a:pt x="7620" y="0"/>
                    <a:pt x="16891" y="0"/>
                  </a:cubicBezTo>
                  <a:moveTo>
                    <a:pt x="16891" y="33909"/>
                  </a:moveTo>
                  <a:lnTo>
                    <a:pt x="16891" y="16891"/>
                  </a:lnTo>
                  <a:lnTo>
                    <a:pt x="33909" y="16891"/>
                  </a:lnTo>
                  <a:lnTo>
                    <a:pt x="33909" y="870331"/>
                  </a:lnTo>
                  <a:lnTo>
                    <a:pt x="16891" y="870331"/>
                  </a:lnTo>
                  <a:lnTo>
                    <a:pt x="16891" y="853440"/>
                  </a:lnTo>
                  <a:lnTo>
                    <a:pt x="23425530" y="853440"/>
                  </a:lnTo>
                  <a:lnTo>
                    <a:pt x="23425530" y="870331"/>
                  </a:lnTo>
                  <a:lnTo>
                    <a:pt x="23408639" y="870331"/>
                  </a:lnTo>
                  <a:lnTo>
                    <a:pt x="23408639" y="16891"/>
                  </a:lnTo>
                  <a:lnTo>
                    <a:pt x="23425530" y="16891"/>
                  </a:lnTo>
                  <a:lnTo>
                    <a:pt x="23425530" y="33909"/>
                  </a:lnTo>
                  <a:lnTo>
                    <a:pt x="16891" y="33909"/>
                  </a:lnTo>
                  <a:close/>
                </a:path>
              </a:pathLst>
            </a:custGeom>
            <a:solidFill>
              <a:srgbClr val="2D6A4F"/>
            </a:solidFill>
          </p:spPr>
        </p:sp>
      </p:grpSp>
      <p:grpSp>
        <p:nvGrpSpPr>
          <p:cNvPr name="Group 58" id="58"/>
          <p:cNvGrpSpPr/>
          <p:nvPr/>
        </p:nvGrpSpPr>
        <p:grpSpPr>
          <a:xfrm rot="0">
            <a:off x="548640" y="6675120"/>
            <a:ext cx="5486400" cy="475488"/>
            <a:chOff x="0" y="0"/>
            <a:chExt cx="7315200" cy="633984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315200" cy="633984"/>
            </a:xfrm>
            <a:custGeom>
              <a:avLst/>
              <a:gdLst/>
              <a:ahLst/>
              <a:cxnLst/>
              <a:rect r="r" b="b" t="t" l="l"/>
              <a:pathLst>
                <a:path h="633984" w="7315200">
                  <a:moveTo>
                    <a:pt x="0" y="0"/>
                  </a:moveTo>
                  <a:lnTo>
                    <a:pt x="7315200" y="0"/>
                  </a:lnTo>
                  <a:lnTo>
                    <a:pt x="7315200" y="633984"/>
                  </a:lnTo>
                  <a:lnTo>
                    <a:pt x="0" y="63398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4827" r="0" b="-174827"/>
              </a:stretch>
            </a:blipFill>
          </p:spPr>
        </p:sp>
        <p:sp>
          <p:nvSpPr>
            <p:cNvPr name="TextBox 60" id="60"/>
            <p:cNvSpPr txBox="true"/>
            <p:nvPr/>
          </p:nvSpPr>
          <p:spPr>
            <a:xfrm>
              <a:off x="0" y="0"/>
              <a:ext cx="7315200" cy="6339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879"/>
                </a:lnSpc>
              </a:pPr>
              <a:r>
                <a:rPr lang="en-US" sz="2400" b="true">
                  <a:solidFill>
                    <a:srgbClr val="E9C46A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References</a:t>
              </a: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365760" y="7388352"/>
            <a:ext cx="17556480" cy="2194560"/>
            <a:chOff x="0" y="0"/>
            <a:chExt cx="23408640" cy="292608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23408639" cy="2926080"/>
            </a:xfrm>
            <a:custGeom>
              <a:avLst/>
              <a:gdLst/>
              <a:ahLst/>
              <a:cxnLst/>
              <a:rect r="r" b="b" t="t" l="l"/>
              <a:pathLst>
                <a:path h="2926080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2926080"/>
                  </a:lnTo>
                  <a:lnTo>
                    <a:pt x="0" y="29260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05880" r="0" b="-105880"/>
              </a:stretch>
            </a:blip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23408640" cy="296418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8F3D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1. Lobell &amp; Burke (2010). On the use of statistical models to predict crop yield responses to climate change. Agricultural and Forest Meteorology, 150(11).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8F3D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2. Kamilaris &amp; Prenafeta-Boldu (2018). Deep learning in agriculture: A survey. Computers &amp; Electronics in Agriculture, 147.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8F3D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3. Pantazi et al. (2016). Wheat yield prediction using machine learning. Computers &amp; Electronics in Agriculture, 121.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8F3D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4. Crane-Droesch (2018). ML methods for crop yield prediction. Environmental Research Letters, 13(11).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8F3D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5. Sehgal et al. (2020). Decision support for irrigation using IoT and ML. Journal of Agricultural Engineering, 57(2).</a:t>
              </a:r>
            </a:p>
            <a:p>
              <a:pPr algn="l">
                <a:lnSpc>
                  <a:spcPts val="2039"/>
                </a:lnSpc>
              </a:pPr>
              <a:r>
                <a:rPr lang="en-US" sz="1700">
                  <a:solidFill>
                    <a:srgbClr val="D8F3DC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6. Atharva Ingle (2020). Crop Recommendation Dataset. Kaggle. | 7. FAO STAT Historical Climate Data. fao.org</a:t>
              </a:r>
            </a:p>
          </p:txBody>
        </p:sp>
      </p:grpSp>
      <p:grpSp>
        <p:nvGrpSpPr>
          <p:cNvPr name="Group 64" id="64"/>
          <p:cNvGrpSpPr/>
          <p:nvPr/>
        </p:nvGrpSpPr>
        <p:grpSpPr>
          <a:xfrm rot="0">
            <a:off x="365760" y="9546336"/>
            <a:ext cx="17556480" cy="512064"/>
            <a:chOff x="0" y="0"/>
            <a:chExt cx="23408640" cy="682752"/>
          </a:xfrm>
        </p:grpSpPr>
        <p:sp>
          <p:nvSpPr>
            <p:cNvPr name="Freeform 65" id="65"/>
            <p:cNvSpPr/>
            <p:nvPr/>
          </p:nvSpPr>
          <p:spPr>
            <a:xfrm flipH="false" flipV="false" rot="0">
              <a:off x="0" y="0"/>
              <a:ext cx="23408639" cy="682752"/>
            </a:xfrm>
            <a:custGeom>
              <a:avLst/>
              <a:gdLst/>
              <a:ahLst/>
              <a:cxnLst/>
              <a:rect r="r" b="b" t="t" l="l"/>
              <a:pathLst>
                <a:path h="682752" w="23408639">
                  <a:moveTo>
                    <a:pt x="0" y="0"/>
                  </a:moveTo>
                  <a:lnTo>
                    <a:pt x="23408639" y="0"/>
                  </a:lnTo>
                  <a:lnTo>
                    <a:pt x="23408639" y="682752"/>
                  </a:lnTo>
                  <a:lnTo>
                    <a:pt x="0" y="68275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618058" r="0" b="-618058"/>
              </a:stretch>
            </a:blipFill>
          </p:spPr>
        </p:sp>
        <p:sp>
          <p:nvSpPr>
            <p:cNvPr name="TextBox 66" id="66"/>
            <p:cNvSpPr txBox="true"/>
            <p:nvPr/>
          </p:nvSpPr>
          <p:spPr>
            <a:xfrm>
              <a:off x="0" y="-9525"/>
              <a:ext cx="23408640" cy="692277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640"/>
                </a:lnSpc>
              </a:pPr>
              <a:r>
                <a:rPr lang="en-US" b="true" sz="2200" i="true">
                  <a:solidFill>
                    <a:srgbClr val="E9C46A"/>
                  </a:solidFill>
                  <a:latin typeface="Georgia Bold Italics"/>
                  <a:ea typeface="Georgia Bold Italics"/>
                  <a:cs typeface="Georgia Bold Italics"/>
                  <a:sym typeface="Georgia Bold Italics"/>
                </a:rPr>
                <a:t>"From Invisible Stress to Insight — Empowering Every Farmer with AI"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090023" y="4429125"/>
            <a:ext cx="4107954" cy="1400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800"/>
              </a:lnSpc>
              <a:spcBef>
                <a:spcPct val="0"/>
              </a:spcBef>
            </a:pPr>
            <a:r>
              <a:rPr lang="en-US" sz="9000">
                <a:solidFill>
                  <a:srgbClr val="FFFFFF"/>
                </a:solidFill>
                <a:latin typeface="Avallon Alt"/>
                <a:ea typeface="Avallon Alt"/>
                <a:cs typeface="Avallon Alt"/>
                <a:sym typeface="Avallon Alt"/>
              </a:rPr>
              <a:t>THANKYOU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080964" y="0"/>
            <a:ext cx="10126073" cy="10126073"/>
          </a:xfrm>
          <a:custGeom>
            <a:avLst/>
            <a:gdLst/>
            <a:ahLst/>
            <a:cxnLst/>
            <a:rect r="r" b="b" t="t" l="l"/>
            <a:pathLst>
              <a:path h="10126073" w="10126073">
                <a:moveTo>
                  <a:pt x="0" y="0"/>
                </a:moveTo>
                <a:lnTo>
                  <a:pt x="10126072" y="0"/>
                </a:lnTo>
                <a:lnTo>
                  <a:pt x="10126072" y="10126073"/>
                </a:lnTo>
                <a:lnTo>
                  <a:pt x="0" y="1012607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DAHFoNUTmus</dc:identifier>
  <dcterms:modified xsi:type="dcterms:W3CDTF">2011-08-01T06:04:30Z</dcterms:modified>
  <cp:revision>1</cp:revision>
  <dc:title>Invisible_to_Insight_Presentation.pptx</dc:title>
</cp:coreProperties>
</file>